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0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27432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FD5CB"/>
                </a:solidFill>
                <a:latin typeface="Segoe UI"/>
              </a:rPr>
              <a:t>DEPARTMENT OF CULTURE AND TOURISM · FINANCE — i-FINANCE GL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Georgia"/>
              </a:rPr>
              <a:t>Tourism Sector</a:t>
            </a:r>
          </a:p>
          <a:p>
            <a:pPr algn="l"/>
            <a:r>
              <a:rPr sz="3000" b="0">
                <a:solidFill>
                  <a:srgbClr val="DDE9E2"/>
                </a:solidFill>
                <a:latin typeface="Georgia"/>
              </a:rPr>
              <a:t>Project Budget Utilization — FY2026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9DAD1"/>
                </a:solidFill>
                <a:latin typeface="Segoe UI"/>
              </a:rPr>
              <a:t>Executive briefing — budget vs. execution, open commitments and month-over-month delivery</a:t>
            </a:r>
          </a:p>
          <a:p>
            <a:pPr algn="l"/>
            <a:r>
              <a:rPr sz="1150" b="0">
                <a:solidFill>
                  <a:srgbClr val="9FB8AC"/>
                </a:solidFill>
                <a:latin typeface="Segoe UI"/>
              </a:rPr>
              <a:t>Prepared 6 July 2026 · Source: i-Finance General Ledger — Budget Utilization (live)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5044"/>
                </a:solidFill>
                <a:latin typeface="Georgia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60"/>
                </a:solidFill>
                <a:latin typeface="Segoe UI"/>
              </a:rPr>
              <a:t>FY2026 project budget position — all figures AED, year-to-date through 6 July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20116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3F6F5F"/>
                </a:solidFill>
                <a:latin typeface="Segoe UI"/>
              </a:rPr>
              <a:t>FY2026 · Tourism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2134209" cy="96012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41148" cy="960120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691640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APPROVED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901952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1.56B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295144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140 projects · 8 cost centres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5145" y="1600200"/>
            <a:ext cx="2134209" cy="96012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5145" y="1600200"/>
            <a:ext cx="41148" cy="960120"/>
          </a:xfrm>
          <a:prstGeom prst="rect">
            <a:avLst/>
          </a:prstGeom>
          <a:solidFill>
            <a:srgbClr val="2F8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1449" y="1691640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ACTUAL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1449" y="1901952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568.1M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1449" y="2295144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36.3% utilised (GRN 563M + AP 5M)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7371" y="1600200"/>
            <a:ext cx="2134209" cy="96012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7371" y="1600200"/>
            <a:ext cx="41148" cy="960120"/>
          </a:xfrm>
          <a:prstGeom prst="rect">
            <a:avLst/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3675" y="1691640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COMMITMENTS (PR)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3675" y="1901952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124.4M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3675" y="2295144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reserved requisitions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9596" y="1600200"/>
            <a:ext cx="2134209" cy="96012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9596" y="1600200"/>
            <a:ext cx="41148" cy="960120"/>
          </a:xfrm>
          <a:prstGeom prst="rect">
            <a:avLst/>
          </a:prstGeom>
          <a:solidFill>
            <a:srgbClr val="3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5900" y="1691640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OBLIGATIONS (PO)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5900" y="1901952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250.6M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5900" y="2295144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orders awaiting delivery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1822" y="1600200"/>
            <a:ext cx="2134209" cy="960120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1822" y="1600200"/>
            <a:ext cx="41148" cy="960120"/>
          </a:xfrm>
          <a:prstGeom prst="rect">
            <a:avLst/>
          </a:prstGeom>
          <a:solidFill>
            <a:srgbClr val="5A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8126" y="1691640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FUNDS 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8126" y="1901952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620.9M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8126" y="2295144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39.7% of budget uncommitted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852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27"/>
                </a:solidFill>
                <a:latin typeface="Segoe UI"/>
              </a:rPr>
              <a:t>How the budget sits today</a:t>
            </a:r>
          </a:p>
        </p:txBody>
      </p:sp>
      <p:pic>
        <p:nvPicPr>
          <p:cNvPr id="32" name="Picture 31" descr="comp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154680"/>
            <a:ext cx="10424160" cy="245229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2920" y="5504688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3F6F5F"/>
                </a:solidFill>
                <a:latin typeface="Segoe UI"/>
              </a:rPr>
              <a:t>▪  </a:t>
            </a:r>
            <a:r>
              <a:rPr sz="1150" b="1">
                <a:solidFill>
                  <a:srgbClr val="1F2A27"/>
                </a:solidFill>
                <a:latin typeface="Segoe UI"/>
              </a:rPr>
              <a:t>60% of the budget is already deployed or spoken for — </a:t>
            </a:r>
            <a:r>
              <a:rPr sz="1150" b="0">
                <a:solidFill>
                  <a:srgbClr val="1F2A27"/>
                </a:solidFill>
                <a:latin typeface="Segoe UI"/>
              </a:rPr>
              <a:t>actual 568.1M (36.3%) plus 375.0M of open PR/PO commitments leave 620.9M genuinely free.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F6F5F"/>
                </a:solidFill>
                <a:latin typeface="Segoe UI"/>
              </a:rPr>
              <a:t>▪  </a:t>
            </a:r>
            <a:r>
              <a:rPr sz="1150" b="1">
                <a:solidFill>
                  <a:srgbClr val="1F2A27"/>
                </a:solidFill>
                <a:latin typeface="Segoe UI"/>
              </a:rPr>
              <a:t>Execution is procurement-led — </a:t>
            </a:r>
            <a:r>
              <a:rPr sz="1150" b="0">
                <a:solidFill>
                  <a:srgbClr val="1F2A27"/>
                </a:solidFill>
                <a:latin typeface="Segoe UI"/>
              </a:rPr>
              <a:t>over 99% of actual spend arrives through goods/services receipts (GRN) rather than direct invoices — delivery follow-through drives utilisation.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3F6F5F"/>
                </a:solidFill>
                <a:latin typeface="Segoe UI"/>
              </a:rPr>
              <a:t>▪  </a:t>
            </a:r>
            <a:r>
              <a:rPr sz="1150" b="1">
                <a:solidFill>
                  <a:srgbClr val="1F2A27"/>
                </a:solidFill>
                <a:latin typeface="Segoe UI"/>
              </a:rPr>
              <a:t>Concentration — </a:t>
            </a:r>
            <a:r>
              <a:rPr sz="1150" b="0">
                <a:solidFill>
                  <a:srgbClr val="1F2A27"/>
                </a:solidFill>
                <a:latin typeface="Segoe UI"/>
              </a:rPr>
              <a:t>Tourism (Central) holds 76% of the sector budget; its execution pattern defines the sector curve.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5044"/>
                </a:solidFill>
                <a:latin typeface="Georgia"/>
              </a:rPr>
              <a:t>Budget by cost centre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60"/>
                </a:solidFill>
                <a:latin typeface="Segoe UI"/>
              </a:rPr>
              <a:t>Approved budget (track) vs. actual spend and open commitments — AED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20116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3F6F5F"/>
                </a:solidFill>
                <a:latin typeface="Segoe UI"/>
              </a:rPr>
              <a:t>FY2026 · Tourism</a:t>
            </a:r>
          </a:p>
        </p:txBody>
      </p:sp>
      <p:pic>
        <p:nvPicPr>
          <p:cNvPr id="6" name="Picture 5" descr="cc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11155680" cy="42330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60"/>
                </a:solidFill>
                <a:latin typeface="Segoe UI"/>
              </a:rPr>
              <a:t>Bars show each cost centre’s full budget (grey track); coloured segments are actual spend and open PR/PO within it. Budget value at bar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5044"/>
                </a:solidFill>
                <a:latin typeface="Georgia"/>
              </a:rPr>
              <a:t>Utilisation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60"/>
                </a:solidFill>
                <a:latin typeface="Segoe UI"/>
              </a:rPr>
              <a:t>Share of each cost centre’s own budget — utilised, reserved (PR) and on order (PO)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20116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3F6F5F"/>
                </a:solidFill>
                <a:latin typeface="Segoe UI"/>
              </a:rPr>
              <a:t>FY2026 · Tourism</a:t>
            </a:r>
          </a:p>
        </p:txBody>
      </p:sp>
      <p:pic>
        <p:nvPicPr>
          <p:cNvPr id="6" name="Picture 5" descr="cc_p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11155680" cy="42923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60"/>
                </a:solidFill>
                <a:latin typeface="Segoe UI"/>
              </a:rPr>
              <a:t>Dashed line = sector utilisation (36.3%). A low utilised share with a large amber/indigo block means the pipeline is committed but not yet delivered.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5044"/>
                </a:solidFill>
                <a:latin typeface="Georgia"/>
              </a:rPr>
              <a:t>Month-over-month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60"/>
                </a:solidFill>
                <a:latin typeface="Segoe UI"/>
              </a:rPr>
              <a:t>Monthly actual spend (GRN + AP direct) with cumulative curve — AED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20116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3F6F5F"/>
                </a:solidFill>
                <a:latin typeface="Segoe UI"/>
              </a:rPr>
              <a:t>FY2026 · Tourism</a:t>
            </a:r>
          </a:p>
        </p:txBody>
      </p:sp>
      <p:pic>
        <p:nvPicPr>
          <p:cNvPr id="6" name="Picture 5" descr="mom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10515600" cy="4807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A6560"/>
                </a:solidFill>
                <a:latin typeface="Segoe UI"/>
              </a:rPr>
              <a:t>* July is month-to-date (through 6 Jul). March reflects a major receipt cycle at Tourism (Central) — execution lands in steps as deliveries are receipted, not in a straight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5044"/>
                </a:solidFill>
                <a:latin typeface="Georgia"/>
              </a:rPr>
              <a:t>Tourism (Central)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60"/>
                </a:solidFill>
                <a:latin typeface="Segoe UI"/>
              </a:rPr>
              <a:t>Cost centre 4515500 · 51 projects ·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20116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3F6F5F"/>
                </a:solidFill>
                <a:latin typeface="Segoe UI"/>
              </a:rPr>
              <a:t>FY2026 · Tourism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41148" cy="896112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1.20B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76.5% of sector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5145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5145" y="1481328"/>
            <a:ext cx="41148" cy="896112"/>
          </a:xfrm>
          <a:prstGeom prst="rect">
            <a:avLst/>
          </a:prstGeom>
          <a:solidFill>
            <a:srgbClr val="2F8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1449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1449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462.7M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1449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38.7% utilised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7371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7371" y="1481328"/>
            <a:ext cx="41148" cy="896112"/>
          </a:xfrm>
          <a:prstGeom prst="rect">
            <a:avLst/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3675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3675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33.8M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3675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2.8% of budget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9596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9596" y="1481328"/>
            <a:ext cx="41148" cy="896112"/>
          </a:xfrm>
          <a:prstGeom prst="rect">
            <a:avLst/>
          </a:prstGeom>
          <a:solidFill>
            <a:srgbClr val="3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5900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5900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218.6M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5900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18.3% of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1822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1822" y="1481328"/>
            <a:ext cx="41148" cy="896112"/>
          </a:xfrm>
          <a:prstGeom prst="rect">
            <a:avLst/>
          </a:prstGeom>
          <a:solidFill>
            <a:srgbClr val="5A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8126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8126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480.8M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8126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40.2% of 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542032"/>
            <a:ext cx="5577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Budget composition</a:t>
            </a:r>
          </a:p>
        </p:txBody>
      </p:sp>
      <p:pic>
        <p:nvPicPr>
          <p:cNvPr id="32" name="Picture 31" descr="comp_4515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16352"/>
            <a:ext cx="5577840" cy="17614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00800" y="2542032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Monthly execution (AED)</a:t>
            </a:r>
          </a:p>
        </p:txBody>
      </p:sp>
      <p:pic>
        <p:nvPicPr>
          <p:cNvPr id="34" name="Picture 33" descr="mom_45155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16352"/>
            <a:ext cx="5303520" cy="186257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2920" y="45902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Top projects by budget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02920" y="4864608"/>
          <a:ext cx="11155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737360"/>
                <a:gridCol w="1737360"/>
                <a:gridCol w="1737360"/>
                <a:gridCol w="146304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Project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Budget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Actual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Committed (PR+PO)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Available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4511000725 — NBA- Basket Ball Development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148.1M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59.2M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76.0M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12.8M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4511000809 — Liwa Festival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138.1M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35.6M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22.0M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80.4M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4511000403 — TS - EB - G21 - M JV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126.5M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103.0M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23.5M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4511000386 — TS - EB- UFC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107.7M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36.7M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59.3M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11.7M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4511001136 — Saadiyat Festival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107.2M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88.3M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7.9M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10.9M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5044"/>
                </a:solidFill>
                <a:latin typeface="Georgia"/>
              </a:rPr>
              <a:t>International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60"/>
                </a:solidFill>
                <a:latin typeface="Segoe UI"/>
              </a:rPr>
              <a:t>Cost centre 4515100 · 12 projects ·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20116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3F6F5F"/>
                </a:solidFill>
                <a:latin typeface="Segoe UI"/>
              </a:rPr>
              <a:t>FY2026 · Tourism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41148" cy="896112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125.8M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8.0% of sector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5145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5145" y="1481328"/>
            <a:ext cx="41148" cy="896112"/>
          </a:xfrm>
          <a:prstGeom prst="rect">
            <a:avLst/>
          </a:prstGeom>
          <a:solidFill>
            <a:srgbClr val="2F8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1449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1449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31.3M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1449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24.9% utilised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7371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7371" y="1481328"/>
            <a:ext cx="41148" cy="896112"/>
          </a:xfrm>
          <a:prstGeom prst="rect">
            <a:avLst/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3675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3675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37.3M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3675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29.6% of budget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9596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9596" y="1481328"/>
            <a:ext cx="41148" cy="896112"/>
          </a:xfrm>
          <a:prstGeom prst="rect">
            <a:avLst/>
          </a:prstGeom>
          <a:solidFill>
            <a:srgbClr val="3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5900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5900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15.7M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5900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12.4% of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1822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1822" y="1481328"/>
            <a:ext cx="41148" cy="896112"/>
          </a:xfrm>
          <a:prstGeom prst="rect">
            <a:avLst/>
          </a:prstGeom>
          <a:solidFill>
            <a:srgbClr val="5A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8126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8126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41.5M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8126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33.0% of 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542032"/>
            <a:ext cx="5577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Budget composition</a:t>
            </a:r>
          </a:p>
        </p:txBody>
      </p:sp>
      <p:pic>
        <p:nvPicPr>
          <p:cNvPr id="32" name="Picture 31" descr="comp_4515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16352"/>
            <a:ext cx="5577840" cy="17614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00800" y="2542032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Monthly execution (AED)</a:t>
            </a:r>
          </a:p>
        </p:txBody>
      </p:sp>
      <p:pic>
        <p:nvPicPr>
          <p:cNvPr id="34" name="Picture 33" descr="mom_45151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16352"/>
            <a:ext cx="5303520" cy="188421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2920" y="45902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Top projects by budget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02920" y="4864608"/>
          <a:ext cx="11155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737360"/>
                <a:gridCol w="1737360"/>
                <a:gridCol w="1737360"/>
                <a:gridCol w="146304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Project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Budget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Actual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Committed (PR+PO)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Available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4511001474 — Exhibitions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27.6M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13.9M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1.1M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12.5M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4511000572 — TTMD Global Partnerships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21.8M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2.0M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18.6M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1.2M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4511001472 — Europe-Tier-1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15.1M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4.0M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5.0M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6.0M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4511001471 — APAC-Tier-1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14.0M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1.2M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7.0M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5.8M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4511001475 — Europe-Tier-2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12.5M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2.8M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3.5M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6.2M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5044"/>
                </a:solidFill>
                <a:latin typeface="Georgia"/>
              </a:rPr>
              <a:t>Abu Dhabi Conventions &amp; Exhibition Bureau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60"/>
                </a:solidFill>
                <a:latin typeface="Segoe UI"/>
              </a:rPr>
              <a:t>Cost centre 4515400 · 31 projects ·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20116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3F6F5F"/>
                </a:solidFill>
                <a:latin typeface="Segoe UI"/>
              </a:rPr>
              <a:t>FY2026 · Tourism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41148" cy="896112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77.0M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4.9% of sector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5145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5145" y="1481328"/>
            <a:ext cx="41148" cy="896112"/>
          </a:xfrm>
          <a:prstGeom prst="rect">
            <a:avLst/>
          </a:prstGeom>
          <a:solidFill>
            <a:srgbClr val="2F8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1449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1449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22.8M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1449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29.6% utilised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7371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7371" y="1481328"/>
            <a:ext cx="41148" cy="896112"/>
          </a:xfrm>
          <a:prstGeom prst="rect">
            <a:avLst/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3675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3675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11.1M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3675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14.4% of budget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9596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9596" y="1481328"/>
            <a:ext cx="41148" cy="896112"/>
          </a:xfrm>
          <a:prstGeom prst="rect">
            <a:avLst/>
          </a:prstGeom>
          <a:solidFill>
            <a:srgbClr val="3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5900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5900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4.3M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5900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5.6% of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1822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1822" y="1481328"/>
            <a:ext cx="41148" cy="896112"/>
          </a:xfrm>
          <a:prstGeom prst="rect">
            <a:avLst/>
          </a:prstGeom>
          <a:solidFill>
            <a:srgbClr val="5A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8126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8126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38.9M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8126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50.5% of 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542032"/>
            <a:ext cx="5577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Budget composition</a:t>
            </a:r>
          </a:p>
        </p:txBody>
      </p:sp>
      <p:pic>
        <p:nvPicPr>
          <p:cNvPr id="32" name="Picture 31" descr="comp_4515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16352"/>
            <a:ext cx="5577840" cy="17614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00800" y="2542032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Monthly execution (AED)</a:t>
            </a:r>
          </a:p>
        </p:txBody>
      </p:sp>
      <p:pic>
        <p:nvPicPr>
          <p:cNvPr id="34" name="Picture 33" descr="mom_45154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16352"/>
            <a:ext cx="5303520" cy="190635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2920" y="45902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Top projects by budget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02920" y="4864608"/>
          <a:ext cx="11155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737360"/>
                <a:gridCol w="1737360"/>
                <a:gridCol w="1737360"/>
                <a:gridCol w="146304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Project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Budget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Actual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Committed (PR+PO)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Available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4511000981 — Advantage AD Scheme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48.3M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14.9M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6.3M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27.1M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4511000798 — Develop Meeting &amp; Incentives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9.0M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5.3M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487K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3.3M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4511001506 — Abu Dhabi MICE Strategy Refresh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5.5M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3.0M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2.5M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4511000175 — TS-PRO-IMEX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4.8M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1.8M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2.4M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506K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4511000943 — B.D - Association Convention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1.4M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426K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406K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604K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5044"/>
                </a:solidFill>
                <a:latin typeface="Georgia"/>
              </a:rPr>
              <a:t>Visitor Experience &amp; Tourism Products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60"/>
                </a:solidFill>
                <a:latin typeface="Segoe UI"/>
              </a:rPr>
              <a:t>Cost centre 4515300 · 14 projects ·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20116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3F6F5F"/>
                </a:solidFill>
                <a:latin typeface="Segoe UI"/>
              </a:rPr>
              <a:t>FY2026 · Tourism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41148" cy="896112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62.1M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4.0% of sector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5145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5145" y="1481328"/>
            <a:ext cx="41148" cy="896112"/>
          </a:xfrm>
          <a:prstGeom prst="rect">
            <a:avLst/>
          </a:prstGeom>
          <a:solidFill>
            <a:srgbClr val="2F8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1449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1449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1.6M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1449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2.6% utilised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7371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7371" y="1481328"/>
            <a:ext cx="41148" cy="896112"/>
          </a:xfrm>
          <a:prstGeom prst="rect">
            <a:avLst/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3675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3675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30.2M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3675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48.6% of budget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9596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9596" y="1481328"/>
            <a:ext cx="41148" cy="896112"/>
          </a:xfrm>
          <a:prstGeom prst="rect">
            <a:avLst/>
          </a:prstGeom>
          <a:solidFill>
            <a:srgbClr val="3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5900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5900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1.3M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5900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2.2% of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1822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1822" y="1481328"/>
            <a:ext cx="41148" cy="896112"/>
          </a:xfrm>
          <a:prstGeom prst="rect">
            <a:avLst/>
          </a:prstGeom>
          <a:solidFill>
            <a:srgbClr val="5A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8126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8126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28.9M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8126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46.6% of 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542032"/>
            <a:ext cx="5577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Budget composition</a:t>
            </a:r>
          </a:p>
        </p:txBody>
      </p:sp>
      <p:pic>
        <p:nvPicPr>
          <p:cNvPr id="32" name="Picture 31" descr="comp_4515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16352"/>
            <a:ext cx="5577840" cy="17614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00800" y="2542032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Monthly execution (AED)</a:t>
            </a:r>
          </a:p>
        </p:txBody>
      </p:sp>
      <p:pic>
        <p:nvPicPr>
          <p:cNvPr id="34" name="Picture 33" descr="mom_45153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16352"/>
            <a:ext cx="5303520" cy="187513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2920" y="45902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Top projects by budget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02920" y="4864608"/>
          <a:ext cx="11155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737360"/>
                <a:gridCol w="1737360"/>
                <a:gridCol w="1737360"/>
                <a:gridCol w="146304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Project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Budget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Actual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Committed (PR+PO)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Available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4511001537 — VX Signature Moments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17.9M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7.0M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10.9M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4511000978 — Service standards Manual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10.1M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359K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2.5M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7.3M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4511001539 — VX Incentives &amp; Control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7.7M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6.6M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1.1M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4511001005 — VX consultancy services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7.0M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153K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6.4M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443K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4511001536 — VX Award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4.6M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144K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3.6M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854K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5044"/>
                </a:solidFill>
                <a:latin typeface="Georgia"/>
              </a:rPr>
              <a:t>Destination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60"/>
                </a:solidFill>
                <a:latin typeface="Segoe UI"/>
              </a:rPr>
              <a:t>Cost centre 4515700 · 4 projects ·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20116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3F6F5F"/>
                </a:solidFill>
                <a:latin typeface="Segoe UI"/>
              </a:rPr>
              <a:t>FY2026 · Tourism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41148" cy="896112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50.3M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3.2% of sector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5145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5145" y="1481328"/>
            <a:ext cx="41148" cy="896112"/>
          </a:xfrm>
          <a:prstGeom prst="rect">
            <a:avLst/>
          </a:prstGeom>
          <a:solidFill>
            <a:srgbClr val="2F8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1449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1449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26.4M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1449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52.5% utilised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7371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7371" y="1481328"/>
            <a:ext cx="41148" cy="896112"/>
          </a:xfrm>
          <a:prstGeom prst="rect">
            <a:avLst/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3675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3675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3675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2.3% of budget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9596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9596" y="1481328"/>
            <a:ext cx="41148" cy="896112"/>
          </a:xfrm>
          <a:prstGeom prst="rect">
            <a:avLst/>
          </a:prstGeom>
          <a:solidFill>
            <a:srgbClr val="3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5900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5900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10.2M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5900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20.4% of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1822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1822" y="1481328"/>
            <a:ext cx="41148" cy="896112"/>
          </a:xfrm>
          <a:prstGeom prst="rect">
            <a:avLst/>
          </a:prstGeom>
          <a:solidFill>
            <a:srgbClr val="5A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8126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8126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12.5M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8126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24.9% of 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542032"/>
            <a:ext cx="5577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Budget composition</a:t>
            </a:r>
          </a:p>
        </p:txBody>
      </p:sp>
      <p:pic>
        <p:nvPicPr>
          <p:cNvPr id="32" name="Picture 31" descr="comp_4515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16352"/>
            <a:ext cx="5577840" cy="17614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00800" y="2542032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Monthly execution (AED)</a:t>
            </a:r>
          </a:p>
        </p:txBody>
      </p:sp>
      <p:pic>
        <p:nvPicPr>
          <p:cNvPr id="34" name="Picture 33" descr="mom_45157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16352"/>
            <a:ext cx="5303520" cy="188421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2920" y="45902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Top projects by budget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02920" y="4864608"/>
          <a:ext cx="111556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737360"/>
                <a:gridCol w="1737360"/>
                <a:gridCol w="1737360"/>
                <a:gridCol w="146304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Project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Budget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Actual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Committed (PR+PO)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Available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4511000860 — Al Ain Destination Strategy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24.9M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7.3M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7.3M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10.3M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4511001332 — GHAITAH ALAIN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21.0M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17.6M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3.4M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4511001235 — Shuttle bus across Tourist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3.0M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692K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556K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1.8M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4511000245 — MC-Abu Dhabi Destination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1.4M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797K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199K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398K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5044"/>
                </a:solidFill>
                <a:latin typeface="Georgia"/>
              </a:rPr>
              <a:t>Tourism Products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60"/>
                </a:solidFill>
                <a:latin typeface="Segoe UI"/>
              </a:rPr>
              <a:t>Cost centre 4515900 · 13 projects ·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20116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3F6F5F"/>
                </a:solidFill>
                <a:latin typeface="Segoe UI"/>
              </a:rPr>
              <a:t>FY2026 · Tourism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41148" cy="896112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34.3M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2.2% of sector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5145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5145" y="1481328"/>
            <a:ext cx="41148" cy="896112"/>
          </a:xfrm>
          <a:prstGeom prst="rect">
            <a:avLst/>
          </a:prstGeom>
          <a:solidFill>
            <a:srgbClr val="2F8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1449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1449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21.7M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1449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63.1% utilised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7371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7371" y="1481328"/>
            <a:ext cx="41148" cy="896112"/>
          </a:xfrm>
          <a:prstGeom prst="rect">
            <a:avLst/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3675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3675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6.0M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3675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17.4% of budget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9596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9596" y="1481328"/>
            <a:ext cx="41148" cy="896112"/>
          </a:xfrm>
          <a:prstGeom prst="rect">
            <a:avLst/>
          </a:prstGeom>
          <a:solidFill>
            <a:srgbClr val="3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5900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5900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338K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5900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1.0% of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1822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1822" y="1481328"/>
            <a:ext cx="41148" cy="896112"/>
          </a:xfrm>
          <a:prstGeom prst="rect">
            <a:avLst/>
          </a:prstGeom>
          <a:solidFill>
            <a:srgbClr val="5A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8126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8126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6.4M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8126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18.5% of 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542032"/>
            <a:ext cx="5577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Budget composition</a:t>
            </a:r>
          </a:p>
        </p:txBody>
      </p:sp>
      <p:pic>
        <p:nvPicPr>
          <p:cNvPr id="32" name="Picture 31" descr="comp_4515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16352"/>
            <a:ext cx="5577840" cy="17614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00800" y="2542032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Monthly execution (AED)</a:t>
            </a:r>
          </a:p>
        </p:txBody>
      </p:sp>
      <p:pic>
        <p:nvPicPr>
          <p:cNvPr id="34" name="Picture 33" descr="mom_45159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16352"/>
            <a:ext cx="5303520" cy="188421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2920" y="45902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Top projects by budget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02920" y="4864608"/>
          <a:ext cx="11155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737360"/>
                <a:gridCol w="1737360"/>
                <a:gridCol w="1737360"/>
                <a:gridCol w="146304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Project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Budget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Actual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Committed (PR+PO)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Available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4511001456 — Home Based Oper. - Air Arabia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18.5M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18.1M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400K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4511000942 — Destination Wedding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8.9M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757K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4.5M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3.7M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4511001208 — Exhibition - Monaco Yacht Show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1.5M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1.2M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280K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21K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4511000935 — Cruise Partnerships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806K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186K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222K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398K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4511001128 — Product Development-Consultant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757K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454K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303K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5044"/>
                </a:solidFill>
                <a:latin typeface="Georgia"/>
              </a:rPr>
              <a:t>Tourism (Central) (Office)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60"/>
                </a:solidFill>
                <a:latin typeface="Segoe UI"/>
              </a:rPr>
              <a:t>Cost centre 4515010 · 13 projects ·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20116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3F6F5F"/>
                </a:solidFill>
                <a:latin typeface="Segoe UI"/>
              </a:rPr>
              <a:t>FY2026 · Tourism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41148" cy="896112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15.5M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1.0% of sector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5145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5145" y="1481328"/>
            <a:ext cx="41148" cy="896112"/>
          </a:xfrm>
          <a:prstGeom prst="rect">
            <a:avLst/>
          </a:prstGeom>
          <a:solidFill>
            <a:srgbClr val="2F8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1449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1449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1449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9.2% utilised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7371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7371" y="1481328"/>
            <a:ext cx="41148" cy="896112"/>
          </a:xfrm>
          <a:prstGeom prst="rect">
            <a:avLst/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3675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3675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3.7M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3675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23.8% of budget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9596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9596" y="1481328"/>
            <a:ext cx="41148" cy="896112"/>
          </a:xfrm>
          <a:prstGeom prst="rect">
            <a:avLst/>
          </a:prstGeom>
          <a:solidFill>
            <a:srgbClr val="3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5900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5900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135K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5900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0.9% of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1822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1822" y="1481328"/>
            <a:ext cx="41148" cy="896112"/>
          </a:xfrm>
          <a:prstGeom prst="rect">
            <a:avLst/>
          </a:prstGeom>
          <a:solidFill>
            <a:srgbClr val="5A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8126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8126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10.2M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8126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66.1% of 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542032"/>
            <a:ext cx="5577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Budget composition</a:t>
            </a:r>
          </a:p>
        </p:txBody>
      </p:sp>
      <p:pic>
        <p:nvPicPr>
          <p:cNvPr id="32" name="Picture 31" descr="comp_4515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16352"/>
            <a:ext cx="5577840" cy="17614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00800" y="2542032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Monthly execution (AED)</a:t>
            </a:r>
          </a:p>
        </p:txBody>
      </p:sp>
      <p:pic>
        <p:nvPicPr>
          <p:cNvPr id="34" name="Picture 33" descr="mom_4515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16352"/>
            <a:ext cx="5303520" cy="187513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2920" y="45902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Top projects by budget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02920" y="4864608"/>
          <a:ext cx="111556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737360"/>
                <a:gridCol w="1737360"/>
                <a:gridCol w="1737360"/>
                <a:gridCol w="146304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Project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Budget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Actual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Committed (PR+PO)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Available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4511001134 — Investment-Investor Pitch Book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4.4M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178K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4.2M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4511000826 — TSM-Sector Management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4.0M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1.3M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95K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2.6M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4511000972 — Tourism Tactical research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2.2M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322K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1.9M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4511000809 — Liwa Festival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1.7M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1.6M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82K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4511001399 — Tourism Sustainability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1.1M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1.1M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5044"/>
                </a:solidFill>
                <a:latin typeface="Georgia"/>
              </a:rPr>
              <a:t> Emiratization &amp; Capability Development Office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60"/>
                </a:solidFill>
                <a:latin typeface="Segoe UI"/>
              </a:rPr>
              <a:t>Cost centre 4515020 · 3 projects · deep dive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20116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3F6F5F"/>
                </a:solidFill>
                <a:latin typeface="Segoe UI"/>
              </a:rPr>
              <a:t>FY2026 · Tourism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41148" cy="896112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3.2M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0.2% of sector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5145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5145" y="1481328"/>
            <a:ext cx="41148" cy="896112"/>
          </a:xfrm>
          <a:prstGeom prst="rect">
            <a:avLst/>
          </a:prstGeom>
          <a:solidFill>
            <a:srgbClr val="2F8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11449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ACTUAL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1449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240K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1449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7.5% utilised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7371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7371" y="1481328"/>
            <a:ext cx="41148" cy="896112"/>
          </a:xfrm>
          <a:prstGeom prst="rect">
            <a:avLst/>
          </a:prstGeom>
          <a:solidFill>
            <a:srgbClr val="B072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3675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3675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1.3M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3675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40.2% of budget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9596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9596" y="1481328"/>
            <a:ext cx="41148" cy="896112"/>
          </a:xfrm>
          <a:prstGeom prst="rect">
            <a:avLst/>
          </a:prstGeom>
          <a:solidFill>
            <a:srgbClr val="3A4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5900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OPEN 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5900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35900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0.3% of 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1822" y="1481328"/>
            <a:ext cx="2134209" cy="896112"/>
          </a:xfrm>
          <a:prstGeom prst="rect">
            <a:avLst/>
          </a:prstGeom>
          <a:solidFill>
            <a:srgbClr val="F2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1822" y="1481328"/>
            <a:ext cx="41148" cy="896112"/>
          </a:xfrm>
          <a:prstGeom prst="rect">
            <a:avLst/>
          </a:prstGeom>
          <a:solidFill>
            <a:srgbClr val="5A6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8126" y="1572768"/>
            <a:ext cx="190560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5A6560"/>
                </a:solidFill>
                <a:latin typeface="Segoe UI"/>
              </a:rPr>
              <a:t>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8126" y="1783080"/>
            <a:ext cx="190560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F2A27"/>
                </a:solidFill>
                <a:latin typeface="Segoe UI"/>
              </a:rPr>
              <a:t>1.7M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8126" y="2176272"/>
            <a:ext cx="190560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A6560"/>
                </a:solidFill>
                <a:latin typeface="Segoe UI"/>
              </a:rPr>
              <a:t>52.0% of budget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2542032"/>
            <a:ext cx="5577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Budget composition</a:t>
            </a:r>
          </a:p>
        </p:txBody>
      </p:sp>
      <p:pic>
        <p:nvPicPr>
          <p:cNvPr id="32" name="Picture 31" descr="comp_4515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16352"/>
            <a:ext cx="5577840" cy="176142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00800" y="2542032"/>
            <a:ext cx="5303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Monthly execution (AED)</a:t>
            </a:r>
          </a:p>
        </p:txBody>
      </p:sp>
      <p:pic>
        <p:nvPicPr>
          <p:cNvPr id="34" name="Picture 33" descr="mom_4515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816352"/>
            <a:ext cx="5303520" cy="189706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02920" y="45902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27"/>
                </a:solidFill>
                <a:latin typeface="Segoe UI"/>
              </a:rPr>
              <a:t>Top projects by budget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502920" y="4864608"/>
          <a:ext cx="1115568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737360"/>
                <a:gridCol w="1737360"/>
                <a:gridCol w="1737360"/>
                <a:gridCol w="1463040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Project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Budget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Actual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Committed (PR+PO)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Available</a:t>
                      </a:r>
                    </a:p>
                  </a:txBody>
                  <a:tcPr marT="25400" marB="25400">
                    <a:solidFill>
                      <a:srgbClr val="3F6F5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4511001405 — Strategic Emiratization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2.3M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240K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1.1M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925K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4511001404 — Industrial Professional Dev.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765K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33K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733K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4511001406 — Emiratization Market Campaings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150K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150K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>
                          <a:solidFill>
                            <a:srgbClr val="1F2A27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T="12700" marB="12700"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5044"/>
                </a:solidFill>
                <a:latin typeface="Georgia"/>
              </a:rPr>
              <a:t>Observations &amp; 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60"/>
                </a:solidFill>
                <a:latin typeface="Segoe UI"/>
              </a:rPr>
              <a:t>What the numbers say — and where management attention pays 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20116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3F6F5F"/>
                </a:solidFill>
                <a:latin typeface="Segoe UI"/>
              </a:rPr>
              <a:t>FY2026 · Tourism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115568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3F6F5F"/>
                </a:solidFill>
                <a:latin typeface="Segoe UI"/>
              </a:rPr>
              <a:t>▪  </a:t>
            </a:r>
            <a:r>
              <a:rPr sz="1250" b="1">
                <a:solidFill>
                  <a:srgbClr val="1F2A27"/>
                </a:solidFill>
                <a:latin typeface="Segoe UI"/>
              </a:rPr>
              <a:t>Concentration risk — </a:t>
            </a:r>
            <a:r>
              <a:rPr sz="1250" b="0">
                <a:solidFill>
                  <a:srgbClr val="1F2A27"/>
                </a:solidFill>
                <a:latin typeface="Segoe UI"/>
              </a:rPr>
              <a:t>Tourism (Central) carries 76% of the sector budget (1.20B); sector delivery is effectively this cost centre’s delivery. Recommend a dedicated monthly delivery review for its top-5 projects.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F6F5F"/>
                </a:solidFill>
                <a:latin typeface="Segoe UI"/>
              </a:rPr>
              <a:t>▪  </a:t>
            </a:r>
            <a:r>
              <a:rPr sz="1250" b="1">
                <a:solidFill>
                  <a:srgbClr val="1F2A27"/>
                </a:solidFill>
                <a:latin typeface="Segoe UI"/>
              </a:rPr>
              <a:t>Committed but not delivered = 375.0M (24% of budget) — </a:t>
            </a:r>
            <a:r>
              <a:rPr sz="1250" b="0">
                <a:solidFill>
                  <a:srgbClr val="1F2A27"/>
                </a:solidFill>
                <a:latin typeface="Segoe UI"/>
              </a:rPr>
              <a:t>PO 250.6M awaiting receipts plus PR 124.4M awaiting conversion. Utilisation will step up mechanically as deliveries land — push GRN discipline (receipt on delivery, not at invoice time).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F6F5F"/>
                </a:solidFill>
                <a:latin typeface="Segoe UI"/>
              </a:rPr>
              <a:t>▪  </a:t>
            </a:r>
            <a:r>
              <a:rPr sz="1250" b="1">
                <a:solidFill>
                  <a:srgbClr val="1F2A27"/>
                </a:solidFill>
                <a:latin typeface="Segoe UI"/>
              </a:rPr>
              <a:t>Pipeline stuck at requisition — </a:t>
            </a:r>
            <a:r>
              <a:rPr sz="1250" b="0">
                <a:solidFill>
                  <a:srgbClr val="1F2A27"/>
                </a:solidFill>
                <a:latin typeface="Segoe UI"/>
              </a:rPr>
              <a:t>Visitor Experience &amp; Tourism Products Development is only 3% utilised, yet 49% of its budget (30.2M) is already reserved on requisitions — expedite PR→PO conversion and delivery scheduling.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F6F5F"/>
                </a:solidFill>
                <a:latin typeface="Segoe UI"/>
              </a:rPr>
              <a:t>▪  </a:t>
            </a:r>
            <a:r>
              <a:rPr sz="1250" b="1">
                <a:solidFill>
                  <a:srgbClr val="1F2A27"/>
                </a:solidFill>
                <a:latin typeface="Segoe UI"/>
              </a:rPr>
              <a:t>Run-rate check — </a:t>
            </a:r>
            <a:r>
              <a:rPr sz="1250" b="0">
                <a:solidFill>
                  <a:srgbClr val="1F2A27"/>
                </a:solidFill>
                <a:latin typeface="Segoe UI"/>
              </a:rPr>
              <a:t>actual spend averages ≈ 91.6M/month. With 620.9M free and 375.0M committed, full-year consumption projects close to budget only if committed orders deliver in H2 — track PO ageing monthly.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F6F5F"/>
                </a:solidFill>
                <a:latin typeface="Segoe UI"/>
              </a:rPr>
              <a:t>▪  </a:t>
            </a:r>
            <a:r>
              <a:rPr sz="1250" b="1">
                <a:solidFill>
                  <a:srgbClr val="1F2A27"/>
                </a:solidFill>
                <a:latin typeface="Segoe UI"/>
              </a:rPr>
              <a:t>Low-utilisation watchlist — </a:t>
            </a:r>
            <a:r>
              <a:rPr sz="1250" b="0">
                <a:solidFill>
                  <a:srgbClr val="1F2A27"/>
                </a:solidFill>
                <a:latin typeface="Segoe UI"/>
              </a:rPr>
              <a:t>Tourism Central Office (8.0%) and Emiratization (7.5%) — small budgets, but if unspent by Q3 they are reallocation candidates.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F6F5F"/>
                </a:solidFill>
                <a:latin typeface="Segoe UI"/>
              </a:rPr>
              <a:t>▪  </a:t>
            </a:r>
            <a:r>
              <a:rPr sz="1250" b="1">
                <a:solidFill>
                  <a:srgbClr val="1F2A27"/>
                </a:solidFill>
                <a:latin typeface="Segoe UI"/>
              </a:rPr>
              <a:t>Healthy signal — </a:t>
            </a:r>
            <a:r>
              <a:rPr sz="1250" b="0">
                <a:solidFill>
                  <a:srgbClr val="1F2A27"/>
                </a:solidFill>
                <a:latin typeface="Segoe UI"/>
              </a:rPr>
              <a:t>only 5.1M (0.3%) of spend bypasses procurement as direct AP — strong contract/PO discipline across the sector.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2C5044"/>
                </a:solidFill>
                <a:latin typeface="Georgia"/>
              </a:rPr>
              <a:t>Appendix — definitions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560"/>
                </a:solidFill>
                <a:latin typeface="Segoe UI"/>
              </a:rPr>
              <a:t>How each figure is derived (all AED, FY2026)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20116"/>
          </a:xfrm>
          <a:prstGeom prst="rect">
            <a:avLst/>
          </a:prstGeom>
          <a:solidFill>
            <a:srgbClr val="3F6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38404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3F6F5F"/>
                </a:solidFill>
                <a:latin typeface="Segoe UI"/>
              </a:rPr>
              <a:t>FY2026 · Tourism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11556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200">
                <a:solidFill>
                  <a:srgbClr val="3F6F5F"/>
                </a:solidFill>
                <a:latin typeface="Segoe UI"/>
              </a:rPr>
              <a:t>▪  </a:t>
            </a:r>
            <a:r>
              <a:rPr sz="1200" b="1">
                <a:solidFill>
                  <a:srgbClr val="1F2A27"/>
                </a:solidFill>
                <a:latin typeface="Segoe UI"/>
              </a:rPr>
              <a:t>Approved budget — </a:t>
            </a:r>
            <a:r>
              <a:rPr sz="1200" b="0">
                <a:solidFill>
                  <a:srgbClr val="1F2A27"/>
                </a:solidFill>
                <a:latin typeface="Segoe UI"/>
              </a:rPr>
              <a:t>FY2026 project budget per Project × Task × Expenditure Type (Fusion projects budget extract).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3F6F5F"/>
                </a:solidFill>
                <a:latin typeface="Segoe UI"/>
              </a:rPr>
              <a:t>▪  </a:t>
            </a:r>
            <a:r>
              <a:rPr sz="1200" b="1">
                <a:solidFill>
                  <a:srgbClr val="1F2A27"/>
                </a:solidFill>
                <a:latin typeface="Segoe UI"/>
              </a:rPr>
              <a:t>Actual — GRN received — </a:t>
            </a:r>
            <a:r>
              <a:rPr sz="1200" b="0">
                <a:solidFill>
                  <a:srgbClr val="1F2A27"/>
                </a:solidFill>
                <a:latin typeface="Segoe UI"/>
              </a:rPr>
              <a:t>value of goods/services receipted against purchase orders (receipt date in FY2026).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3F6F5F"/>
                </a:solidFill>
                <a:latin typeface="Segoe UI"/>
              </a:rPr>
              <a:t>▪  </a:t>
            </a:r>
            <a:r>
              <a:rPr sz="1200" b="1">
                <a:solidFill>
                  <a:srgbClr val="1F2A27"/>
                </a:solidFill>
                <a:latin typeface="Segoe UI"/>
              </a:rPr>
              <a:t>Actual — AP direct — </a:t>
            </a:r>
            <a:r>
              <a:rPr sz="1200" b="0">
                <a:solidFill>
                  <a:srgbClr val="1F2A27"/>
                </a:solidFill>
                <a:latin typeface="Segoe UI"/>
              </a:rPr>
              <a:t>validated supplier invoices charged directly to a project with no purchase order.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3F6F5F"/>
                </a:solidFill>
                <a:latin typeface="Segoe UI"/>
              </a:rPr>
              <a:t>▪  </a:t>
            </a:r>
            <a:r>
              <a:rPr sz="1200" b="1">
                <a:solidFill>
                  <a:srgbClr val="1F2A27"/>
                </a:solidFill>
                <a:latin typeface="Segoe UI"/>
              </a:rPr>
              <a:t>Open commitments (PR) — </a:t>
            </a:r>
            <a:r>
              <a:rPr sz="1200" b="0">
                <a:solidFill>
                  <a:srgbClr val="1F2A27"/>
                </a:solidFill>
                <a:latin typeface="Segoe UI"/>
              </a:rPr>
              <a:t>requisition lines with funds status Reserved — budget held, order not yet placed.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3F6F5F"/>
                </a:solidFill>
                <a:latin typeface="Segoe UI"/>
              </a:rPr>
              <a:t>▪  </a:t>
            </a:r>
            <a:r>
              <a:rPr sz="1200" b="1">
                <a:solidFill>
                  <a:srgbClr val="1F2A27"/>
                </a:solidFill>
                <a:latin typeface="Segoe UI"/>
              </a:rPr>
              <a:t>Open obligations (PO) — </a:t>
            </a:r>
            <a:r>
              <a:rPr sz="1200" b="0">
                <a:solidFill>
                  <a:srgbClr val="1F2A27"/>
                </a:solidFill>
                <a:latin typeface="Segoe UI"/>
              </a:rPr>
              <a:t>purchase-order lines Reserved / Partially Liquidated, net of receipts to date.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3F6F5F"/>
                </a:solidFill>
                <a:latin typeface="Segoe UI"/>
              </a:rPr>
              <a:t>▪  </a:t>
            </a:r>
            <a:r>
              <a:rPr sz="1200" b="1">
                <a:solidFill>
                  <a:srgbClr val="1F2A27"/>
                </a:solidFill>
                <a:latin typeface="Segoe UI"/>
              </a:rPr>
              <a:t>Funds available — </a:t>
            </a:r>
            <a:r>
              <a:rPr sz="1200" b="0">
                <a:solidFill>
                  <a:srgbClr val="1F2A27"/>
                </a:solidFill>
                <a:latin typeface="Segoe UI"/>
              </a:rPr>
              <a:t>Budget − Actual AP − Actual GRN − Open PR − Open PO.</a:t>
            </a:r>
          </a:p>
          <a:p>
            <a:pPr>
              <a:spcAft>
                <a:spcPts val="700"/>
              </a:spcAft>
            </a:pPr>
            <a:r>
              <a:rPr sz="1200">
                <a:solidFill>
                  <a:srgbClr val="3F6F5F"/>
                </a:solidFill>
                <a:latin typeface="Segoe UI"/>
              </a:rPr>
              <a:t>▪  </a:t>
            </a:r>
            <a:r>
              <a:rPr sz="1200" b="1">
                <a:solidFill>
                  <a:srgbClr val="1F2A27"/>
                </a:solidFill>
                <a:latin typeface="Segoe UI"/>
              </a:rPr>
              <a:t>Source — </a:t>
            </a:r>
            <a:r>
              <a:rPr sz="1200" b="0">
                <a:solidFill>
                  <a:srgbClr val="1F2A27"/>
                </a:solidFill>
                <a:latin typeface="Segoe UI"/>
              </a:rPr>
              <a:t>i-Finance General Ledger (App 210) — Budget Utilization report over DCT_BUDGET_UTILIZATION_V; monthly split reconciles to the report’s drill-down. Data as of 6 July 2026; July is month-to-date.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