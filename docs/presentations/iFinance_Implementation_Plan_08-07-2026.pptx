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52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06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A441"/>
                </a:solidFill>
                <a:latin typeface="Segoe UI"/>
              </a:rPr>
              <a:t>DEPARTMENT OF CULTURE AND TOURISM — ABU DHABI   ·   FINANCE DEPARTMENT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Georgia"/>
              </a:rPr>
              <a:t>iFinance Implementation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9692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C9DEE4"/>
                </a:solidFill>
                <a:latin typeface="Segoe UI"/>
              </a:rPr>
              <a:t>Deployment on a dedicated Oracle OCI tenancy within the Core42 data centre — co-located with the ADERP Oracle Fusion instance and fully integrated with it in both directions.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709160"/>
            <a:ext cx="2926080" cy="2286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98348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Submitted to:  </a:t>
            </a:r>
            <a:r>
              <a:rPr sz="1300" b="0">
                <a:solidFill>
                  <a:srgbClr val="C9DEE4"/>
                </a:solidFill>
                <a:latin typeface="Segoe UI"/>
              </a:rPr>
              <a:t>Finance Director — for review &amp; approval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Methodology:  </a:t>
            </a:r>
            <a:r>
              <a:rPr sz="1300" b="0">
                <a:solidFill>
                  <a:srgbClr val="C9DEE4"/>
                </a:solidFill>
                <a:latin typeface="Segoe UI"/>
              </a:rPr>
              <a:t>Agile delivery — two-week sprints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Document:  </a:t>
            </a:r>
            <a:r>
              <a:rPr sz="1300" b="0">
                <a:solidFill>
                  <a:srgbClr val="C9DEE4"/>
                </a:solidFill>
                <a:latin typeface="Segoe UI"/>
              </a:rPr>
              <a:t>Implementation Plan v1.2  ·  8 July 2026  ·  Prepared by the Finance Systems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A06612"/>
                </a:solidFill>
                <a:latin typeface="Georgia"/>
              </a:rPr>
              <a:t>   </a:t>
            </a:r>
            <a:r>
              <a:rPr sz="2600" b="1">
                <a:solidFill>
                  <a:srgbClr val="1C2B31"/>
                </a:solidFill>
                <a:latin typeface="Georgia"/>
              </a:rPr>
              <a:t>Executive Summary — 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83112" cy="18288"/>
          </a:xfrm>
          <a:prstGeom prst="rect">
            <a:avLst/>
          </a:prstGeom>
          <a:solidFill>
            <a:srgbClr val="DC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54864" cy="4892040"/>
          </a:xfrm>
          <a:prstGeom prst="rect">
            <a:avLst/>
          </a:prstGeom>
          <a:solidFill>
            <a:srgbClr val="0F52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69848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A06612"/>
                </a:solidFill>
                <a:latin typeface="Segoe UI"/>
              </a:rPr>
              <a:t>•  </a:t>
            </a:r>
            <a:r>
              <a:rPr sz="1500" b="1">
                <a:solidFill>
                  <a:srgbClr val="1C2B31"/>
                </a:solidFill>
                <a:latin typeface="Segoe UI"/>
              </a:rPr>
              <a:t>Solution:  </a:t>
            </a:r>
            <a:r>
              <a:rPr sz="1500" b="0">
                <a:solidFill>
                  <a:srgbClr val="55676E"/>
                </a:solidFill>
                <a:latin typeface="Segoe UI"/>
              </a:rPr>
              <a:t>the iFinance platform, deployed on a dedicated Oracle OCI tenancy provisioned within the Core42 data centre — the same facility hosting the ADERP Oracle Fusion instance.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A06612"/>
                </a:solidFill>
                <a:latin typeface="Segoe UI"/>
              </a:rPr>
              <a:t>•  </a:t>
            </a:r>
            <a:r>
              <a:rPr sz="1500" b="1">
                <a:solidFill>
                  <a:srgbClr val="1C2B31"/>
                </a:solidFill>
                <a:latin typeface="Segoe UI"/>
              </a:rPr>
              <a:t>Investment:  </a:t>
            </a:r>
            <a:r>
              <a:rPr sz="1500" b="0">
                <a:solidFill>
                  <a:srgbClr val="55676E"/>
                </a:solidFill>
                <a:latin typeface="Segoe UI"/>
              </a:rPr>
              <a:t>a fixed quotation of USD 100,000, received for the entire eight-module scope — General Ledger, Reporting, Service Pricing, Freelancers, Team Management, Petty Cash, Duty Travel and Employee Housing.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A06612"/>
                </a:solidFill>
                <a:latin typeface="Segoe UI"/>
              </a:rPr>
              <a:t>•  </a:t>
            </a:r>
            <a:r>
              <a:rPr sz="1500" b="1">
                <a:solidFill>
                  <a:srgbClr val="1C2B31"/>
                </a:solidFill>
                <a:latin typeface="Segoe UI"/>
              </a:rPr>
              <a:t>Methodology:  </a:t>
            </a:r>
            <a:r>
              <a:rPr sz="1500" b="0">
                <a:solidFill>
                  <a:srgbClr val="55676E"/>
                </a:solidFill>
                <a:latin typeface="Segoe UI"/>
              </a:rPr>
              <a:t>Agile delivery — two-week sprints, each concluding with user acceptance testing (UAT), training and go-live; Sprint 2 delivers Reporting &amp; BI and Service Pricing together.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A06612"/>
                </a:solidFill>
                <a:latin typeface="Segoe UI"/>
              </a:rPr>
              <a:t>•  </a:t>
            </a:r>
            <a:r>
              <a:rPr sz="1500" b="1">
                <a:solidFill>
                  <a:srgbClr val="1C2B31"/>
                </a:solidFill>
                <a:latin typeface="Segoe UI"/>
              </a:rPr>
              <a:t>Timeline:  </a:t>
            </a:r>
            <a:r>
              <a:rPr sz="1500" b="0">
                <a:solidFill>
                  <a:srgbClr val="55676E"/>
                </a:solidFill>
                <a:latin typeface="Segoe UI"/>
              </a:rPr>
              <a:t>tenancy provisioned within one week of contract signature; the first module (General Ledger) live in week 3; a further module every two weeks; full scope live in ≈ 3 months.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A06612"/>
                </a:solidFill>
                <a:latin typeface="Segoe UI"/>
              </a:rPr>
              <a:t>•  </a:t>
            </a:r>
            <a:r>
              <a:rPr sz="1500" b="1">
                <a:solidFill>
                  <a:srgbClr val="1C2B31"/>
                </a:solidFill>
                <a:latin typeface="Segoe UI"/>
              </a:rPr>
              <a:t>Rationale:  </a:t>
            </a:r>
            <a:r>
              <a:rPr sz="1500" b="0">
                <a:solidFill>
                  <a:srgbClr val="55676E"/>
                </a:solidFill>
                <a:latin typeface="Segoe UI"/>
              </a:rPr>
              <a:t>the technology best aligned with ADGE and Oracle Fusion  ·  full bidirectional Fusion integration  ·  the fastest achievable delivery  ·  the lowest total cost of the available options.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A06612"/>
                </a:solidFill>
                <a:latin typeface="Segoe UI"/>
              </a:rPr>
              <a:t>•  </a:t>
            </a:r>
            <a:r>
              <a:rPr sz="1500" b="1">
                <a:solidFill>
                  <a:srgbClr val="1C2B31"/>
                </a:solidFill>
                <a:latin typeface="Segoe UI"/>
              </a:rPr>
              <a:t>Critical path:  </a:t>
            </a:r>
            <a:r>
              <a:rPr sz="1500" b="0">
                <a:solidFill>
                  <a:srgbClr val="55676E"/>
                </a:solidFill>
                <a:latin typeface="Segoe UI"/>
              </a:rPr>
              <a:t>a single enabling action — procurement of the Oracle OCI tenancy within Core42.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7E9096"/>
                </a:solidFill>
                <a:latin typeface="Segoe UI"/>
              </a:rPr>
              <a:t>iFinance Implementation Plan  ·  DCT Finance Department  · 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7E9096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A06612"/>
                </a:solidFill>
                <a:latin typeface="Georgia"/>
              </a:rPr>
              <a:t>   </a:t>
            </a:r>
            <a:r>
              <a:rPr sz="2600" b="1">
                <a:solidFill>
                  <a:srgbClr val="1C2B31"/>
                </a:solidFill>
                <a:latin typeface="Georgia"/>
              </a:rPr>
              <a:t>Key Figures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83112" cy="18288"/>
          </a:xfrm>
          <a:prstGeom prst="rect">
            <a:avLst/>
          </a:prstGeom>
          <a:solidFill>
            <a:srgbClr val="DC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3602736" cy="1965960"/>
          </a:xfrm>
          <a:prstGeom prst="roundRect">
            <a:avLst>
              <a:gd name="adj" fmla="val 8000"/>
            </a:avLst>
          </a:prstGeom>
          <a:solidFill>
            <a:srgbClr val="F8FAFA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45720" cy="1965960"/>
          </a:xfrm>
          <a:prstGeom prst="rect">
            <a:avLst/>
          </a:prstGeom>
          <a:solidFill>
            <a:srgbClr val="A06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30998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F5262"/>
                </a:solidFill>
                <a:latin typeface="Georgia"/>
              </a:rPr>
              <a:t>USD 100K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3099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5676E"/>
                </a:solidFill>
                <a:latin typeface="Segoe UI"/>
              </a:rPr>
              <a:t>Fixed quotation — entire 8-module 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8536" y="1463040"/>
            <a:ext cx="3602736" cy="1965960"/>
          </a:xfrm>
          <a:prstGeom prst="roundRect">
            <a:avLst>
              <a:gd name="adj" fmla="val 8000"/>
            </a:avLst>
          </a:prstGeom>
          <a:solidFill>
            <a:srgbClr val="F8FAFA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88536" y="1463040"/>
            <a:ext cx="45720" cy="1965960"/>
          </a:xfrm>
          <a:prstGeom prst="rect">
            <a:avLst/>
          </a:prstGeom>
          <a:solidFill>
            <a:srgbClr val="A06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5" y="1847088"/>
            <a:ext cx="30998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F5262"/>
                </a:solidFill>
                <a:latin typeface="Georgia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5" y="2651760"/>
            <a:ext cx="3099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5676E"/>
                </a:solidFill>
                <a:latin typeface="Segoe UI"/>
              </a:rPr>
              <a:t>Business modules delivered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4152" y="1463040"/>
            <a:ext cx="3602736" cy="1965960"/>
          </a:xfrm>
          <a:prstGeom prst="roundRect">
            <a:avLst>
              <a:gd name="adj" fmla="val 8000"/>
            </a:avLst>
          </a:prstGeom>
          <a:solidFill>
            <a:srgbClr val="F8FAFA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4152" y="1463040"/>
            <a:ext cx="45720" cy="1965960"/>
          </a:xfrm>
          <a:prstGeom prst="rect">
            <a:avLst/>
          </a:prstGeom>
          <a:solidFill>
            <a:srgbClr val="A06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1847088"/>
            <a:ext cx="30998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F5262"/>
                </a:solidFill>
                <a:latin typeface="Georgia"/>
              </a:rPr>
              <a:t>≈ 3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2651760"/>
            <a:ext cx="3099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5676E"/>
                </a:solidFill>
                <a:latin typeface="Segoe UI"/>
              </a:rPr>
              <a:t>Full scope live, from contract signature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49039"/>
            <a:ext cx="3602736" cy="1965960"/>
          </a:xfrm>
          <a:prstGeom prst="roundRect">
            <a:avLst>
              <a:gd name="adj" fmla="val 8000"/>
            </a:avLst>
          </a:prstGeom>
          <a:solidFill>
            <a:srgbClr val="F8FAFA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749039"/>
            <a:ext cx="45720" cy="1965960"/>
          </a:xfrm>
          <a:prstGeom prst="rect">
            <a:avLst/>
          </a:prstGeom>
          <a:solidFill>
            <a:srgbClr val="A06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33087"/>
            <a:ext cx="30998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F5262"/>
                </a:solidFill>
                <a:latin typeface="Georgia"/>
              </a:rPr>
              <a:t>Week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937759"/>
            <a:ext cx="3099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5676E"/>
                </a:solidFill>
                <a:latin typeface="Segoe UI"/>
              </a:rPr>
              <a:t>First module live — General Ledger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749039"/>
            <a:ext cx="3602736" cy="1965960"/>
          </a:xfrm>
          <a:prstGeom prst="roundRect">
            <a:avLst>
              <a:gd name="adj" fmla="val 8000"/>
            </a:avLst>
          </a:prstGeom>
          <a:solidFill>
            <a:srgbClr val="F8FAFA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88536" y="3749039"/>
            <a:ext cx="45720" cy="1965960"/>
          </a:xfrm>
          <a:prstGeom prst="rect">
            <a:avLst/>
          </a:prstGeom>
          <a:solidFill>
            <a:srgbClr val="A06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2855" y="4133087"/>
            <a:ext cx="30998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F5262"/>
                </a:solidFill>
                <a:latin typeface="Georgia"/>
              </a:rPr>
              <a:t>~12.5K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5" y="4937759"/>
            <a:ext cx="3099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5676E"/>
                </a:solidFill>
                <a:latin typeface="Segoe UI"/>
              </a:rPr>
              <a:t>Average cost per module (USD)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4152" y="3749039"/>
            <a:ext cx="3602736" cy="1965960"/>
          </a:xfrm>
          <a:prstGeom prst="roundRect">
            <a:avLst>
              <a:gd name="adj" fmla="val 8000"/>
            </a:avLst>
          </a:prstGeom>
          <a:solidFill>
            <a:srgbClr val="F8FAFA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74152" y="3749039"/>
            <a:ext cx="45720" cy="1965960"/>
          </a:xfrm>
          <a:prstGeom prst="rect">
            <a:avLst/>
          </a:prstGeom>
          <a:solidFill>
            <a:srgbClr val="A06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2" y="4133087"/>
            <a:ext cx="30998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F5262"/>
                </a:solidFill>
                <a:latin typeface="Georgia"/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2" y="4937759"/>
            <a:ext cx="3099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5676E"/>
                </a:solidFill>
                <a:latin typeface="Segoe UI"/>
              </a:rPr>
              <a:t>Data resident in Abu Dhabi (Core42)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7E9096"/>
                </a:solidFill>
                <a:latin typeface="Segoe UI"/>
              </a:rPr>
              <a:t>iFinance Implementation Plan  ·  DCT Finance Department  ·  July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7E9096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A06612"/>
                </a:solidFill>
                <a:latin typeface="Georgia"/>
              </a:rPr>
              <a:t>1   </a:t>
            </a:r>
            <a:r>
              <a:rPr sz="2600" b="1">
                <a:solidFill>
                  <a:srgbClr val="1C2B31"/>
                </a:solidFill>
                <a:latin typeface="Georgia"/>
              </a:rPr>
              <a:t>Why This Option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83112" cy="18288"/>
          </a:xfrm>
          <a:prstGeom prst="rect">
            <a:avLst/>
          </a:prstGeom>
          <a:solidFill>
            <a:srgbClr val="DC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4864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417320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A06612"/>
                </a:solidFill>
                <a:latin typeface="Segoe UI"/>
              </a:rPr>
              <a:t>TECHNOLOGY ALIGNMENT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691640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0F5262"/>
                </a:solidFill>
                <a:latin typeface="Georgia"/>
              </a:rPr>
              <a:t>Best technology — aligned with ADGE &amp; Oracle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67128"/>
            <a:ext cx="49834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A06612"/>
                </a:solidFill>
                <a:latin typeface="Segoe UI"/>
              </a:rPr>
              <a:t>•  </a:t>
            </a:r>
            <a:r>
              <a:rPr sz="1050" b="0">
                <a:solidFill>
                  <a:srgbClr val="55676E"/>
                </a:solidFill>
                <a:latin typeface="Segoe UI"/>
              </a:rPr>
              <a:t>End-to-end Oracle stack — OCI, Autonomous Database, APEX/ORDS, Oracle JET.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A06612"/>
                </a:solidFill>
                <a:latin typeface="Segoe UI"/>
              </a:rPr>
              <a:t>•  </a:t>
            </a:r>
            <a:r>
              <a:rPr sz="1050" b="0">
                <a:solidFill>
                  <a:srgbClr val="55676E"/>
                </a:solidFill>
                <a:latin typeface="Segoe UI"/>
              </a:rPr>
              <a:t>Same technology family, and the same Core42 data centre, as ADERP Fusion.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A06612"/>
                </a:solidFill>
                <a:latin typeface="Segoe UI"/>
              </a:rPr>
              <a:t>•  </a:t>
            </a:r>
            <a:r>
              <a:rPr sz="1050" b="0">
                <a:solidFill>
                  <a:srgbClr val="55676E"/>
                </a:solidFill>
                <a:latin typeface="Segoe UI"/>
              </a:rPr>
              <a:t>Conforms to ADGE cloud &amp; data-residency direction — no new vendor.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234440"/>
            <a:ext cx="54864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417320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A06612"/>
                </a:solidFill>
                <a:latin typeface="Segoe UI"/>
              </a:rPr>
              <a:t>FUSION INTEGRATION — BOTH DIRECTIONS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1691640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0F5262"/>
                </a:solidFill>
                <a:latin typeface="Georgia"/>
              </a:rPr>
              <a:t>Fully integrated with Oracle Fusion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167128"/>
            <a:ext cx="49834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A06612"/>
                </a:solidFill>
                <a:latin typeface="Segoe UI"/>
              </a:rPr>
              <a:t>•  </a:t>
            </a:r>
            <a:r>
              <a:rPr sz="1050" b="0">
                <a:solidFill>
                  <a:srgbClr val="55676E"/>
                </a:solidFill>
                <a:latin typeface="Segoe UI"/>
              </a:rPr>
              <a:t>Outbound: scheduled extracts of GL, budgets, projects, AP / PO / PR — already operational in pilot.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A06612"/>
                </a:solidFill>
                <a:latin typeface="Segoe UI"/>
              </a:rPr>
              <a:t>•  </a:t>
            </a:r>
            <a:r>
              <a:rPr sz="1050" b="0">
                <a:solidFill>
                  <a:srgbClr val="55676E"/>
                </a:solidFill>
                <a:latin typeface="Segoe UI"/>
              </a:rPr>
              <a:t>Inbound: approved transactions (e.g. petty-cash reimbursements) post back to Fusion AP.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A06612"/>
                </a:solidFill>
                <a:latin typeface="Segoe UI"/>
              </a:rPr>
              <a:t>•  </a:t>
            </a:r>
            <a:r>
              <a:rPr sz="1050" b="0">
                <a:solidFill>
                  <a:srgbClr val="55676E"/>
                </a:solidFill>
                <a:latin typeface="Segoe UI"/>
              </a:rPr>
              <a:t>Co-location keeps integration traffic inside the data centre — data never leaves Abu Dhabi.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04488"/>
            <a:ext cx="54864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4087368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A06612"/>
                </a:solidFill>
                <a:latin typeface="Segoe UI"/>
              </a:rPr>
              <a:t>SPEED OF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4361688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0F5262"/>
                </a:solidFill>
                <a:latin typeface="Georgia"/>
              </a:rPr>
              <a:t>Very fast delivery, at the pace the business requires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837176"/>
            <a:ext cx="49834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A06612"/>
                </a:solidFill>
                <a:latin typeface="Segoe UI"/>
              </a:rPr>
              <a:t>•  </a:t>
            </a:r>
            <a:r>
              <a:rPr sz="1050" b="0">
                <a:solidFill>
                  <a:srgbClr val="55676E"/>
                </a:solidFill>
                <a:latin typeface="Segoe UI"/>
              </a:rPr>
              <a:t>Agile — two-week sprints, inclusive of UAT and training.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A06612"/>
                </a:solidFill>
                <a:latin typeface="Segoe UI"/>
              </a:rPr>
              <a:t>•  </a:t>
            </a:r>
            <a:r>
              <a:rPr sz="1050" b="0">
                <a:solidFill>
                  <a:srgbClr val="55676E"/>
                </a:solidFill>
                <a:latin typeface="Segoe UI"/>
              </a:rPr>
              <a:t>Six of eight modules already built and UAT-tested in the pilot environment.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A06612"/>
                </a:solidFill>
                <a:latin typeface="Segoe UI"/>
              </a:rPr>
              <a:t>•  </a:t>
            </a:r>
            <a:r>
              <a:rPr sz="1050" b="0">
                <a:solidFill>
                  <a:srgbClr val="55676E"/>
                </a:solidFill>
                <a:latin typeface="Segoe UI"/>
              </a:rPr>
              <a:t>First go-live in week 3; a further module every two weeks.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3904488"/>
            <a:ext cx="54864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4087368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A06612"/>
                </a:solidFill>
                <a:latin typeface="Segoe UI"/>
              </a:rPr>
              <a:t>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4361688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0F5262"/>
                </a:solidFill>
                <a:latin typeface="Georgia"/>
              </a:rPr>
              <a:t>Lowest total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4837176"/>
            <a:ext cx="49834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A06612"/>
                </a:solidFill>
                <a:latin typeface="Segoe UI"/>
              </a:rPr>
              <a:t>•  </a:t>
            </a:r>
            <a:r>
              <a:rPr sz="1050" b="0">
                <a:solidFill>
                  <a:srgbClr val="55676E"/>
                </a:solidFill>
                <a:latin typeface="Segoe UI"/>
              </a:rPr>
              <a:t>USD 100,000 all-inclusive (~USD 12.5K per module) — deployment to hypercare.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A06612"/>
                </a:solidFill>
                <a:latin typeface="Segoe UI"/>
              </a:rPr>
              <a:t>•  </a:t>
            </a:r>
            <a:r>
              <a:rPr sz="1050" b="0">
                <a:solidFill>
                  <a:srgbClr val="55676E"/>
                </a:solidFill>
                <a:latin typeface="Segoe UI"/>
              </a:rPr>
              <a:t>No per-user licensing — APEX / ORDS / JET runtimes licence-included.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A06612"/>
                </a:solidFill>
                <a:latin typeface="Segoe UI"/>
              </a:rPr>
              <a:t>•  </a:t>
            </a:r>
            <a:r>
              <a:rPr sz="1050" b="0">
                <a:solidFill>
                  <a:srgbClr val="55676E"/>
                </a:solidFill>
                <a:latin typeface="Segoe UI"/>
              </a:rPr>
              <a:t>Market alternatives indicatively 5–10× the cost and 4–6× the duration.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7E9096"/>
                </a:solidFill>
                <a:latin typeface="Segoe UI"/>
              </a:rPr>
              <a:t>iFinance Implementation Plan  ·  DCT Finance Department  ·  July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7E9096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A06612"/>
                </a:solidFill>
                <a:latin typeface="Georgia"/>
              </a:rPr>
              <a:t>2   </a:t>
            </a:r>
            <a:r>
              <a:rPr sz="2600" b="1">
                <a:solidFill>
                  <a:srgbClr val="1C2B31"/>
                </a:solidFill>
                <a:latin typeface="Georgia"/>
              </a:rPr>
              <a:t>Solution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83112" cy="18288"/>
          </a:xfrm>
          <a:prstGeom prst="rect">
            <a:avLst/>
          </a:prstGeom>
          <a:solidFill>
            <a:srgbClr val="DC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0867" y="1207008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E3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867" y="1207008"/>
            <a:ext cx="2606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5262"/>
                </a:solidFill>
                <a:latin typeface="Segoe UI"/>
              </a:rPr>
              <a:t>Finance staff — web (EN / AR)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5507" y="1207008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E3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75507" y="1207008"/>
            <a:ext cx="2606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5262"/>
                </a:solidFill>
                <a:latin typeface="Segoe UI"/>
              </a:rPr>
              <a:t>Approvers — mobile app + push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7" y="1207008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E3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0147" y="1207008"/>
            <a:ext cx="2606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5262"/>
                </a:solidFill>
                <a:latin typeface="Segoe UI"/>
              </a:rPr>
              <a:t>Management — dashboards &amp; BI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44787" y="1207008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E3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4787" y="1207008"/>
            <a:ext cx="2606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5262"/>
                </a:solidFill>
                <a:latin typeface="Segoe UI"/>
              </a:rPr>
              <a:t>Freelancers — public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67335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7E9096"/>
                </a:solidFill>
                <a:latin typeface="Segoe UI"/>
              </a:rPr>
              <a:t>Single sign-on across all interfaces  ·  role-based access  ·  full audit trail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71032" y="1938528"/>
            <a:ext cx="256032" cy="292608"/>
          </a:xfrm>
          <a:prstGeom prst="downArrow">
            <a:avLst/>
          </a:prstGeom>
          <a:solidFill>
            <a:srgbClr val="7E90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2331720"/>
            <a:ext cx="10634472" cy="3383280"/>
          </a:xfrm>
          <a:prstGeom prst="roundRect">
            <a:avLst>
              <a:gd name="adj" fmla="val 3500"/>
            </a:avLst>
          </a:prstGeom>
          <a:noFill/>
          <a:ln w="25400">
            <a:solidFill>
              <a:srgbClr val="0F5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48716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5262"/>
                </a:solidFill>
                <a:latin typeface="Segoe UI"/>
              </a:rPr>
              <a:t>CORE42 DATA CENTRE — ABU DHABI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2852928"/>
            <a:ext cx="4206240" cy="2606040"/>
          </a:xfrm>
          <a:prstGeom prst="roundRect">
            <a:avLst>
              <a:gd name="adj" fmla="val 5000"/>
            </a:avLst>
          </a:prstGeom>
          <a:solidFill>
            <a:srgbClr val="F8FAFA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017520"/>
            <a:ext cx="3794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C2B31"/>
                </a:solidFill>
                <a:latin typeface="Georgia"/>
              </a:rPr>
              <a:t>DCT iFinance — dedicated OCI tenancy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456432"/>
            <a:ext cx="37947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A06612"/>
                </a:solidFill>
                <a:latin typeface="Segoe UI"/>
              </a:rPr>
              <a:t>•  </a:t>
            </a:r>
            <a:r>
              <a:rPr sz="1000" b="0">
                <a:solidFill>
                  <a:srgbClr val="55676E"/>
                </a:solidFill>
                <a:latin typeface="Segoe UI"/>
              </a:rPr>
              <a:t>Oracle Autonomous Database (data + business logic)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A06612"/>
                </a:solidFill>
                <a:latin typeface="Segoe UI"/>
              </a:rPr>
              <a:t>•  </a:t>
            </a:r>
            <a:r>
              <a:rPr sz="1000" b="0">
                <a:solidFill>
                  <a:srgbClr val="55676E"/>
                </a:solidFill>
                <a:latin typeface="Segoe UI"/>
              </a:rPr>
              <a:t>APEX &amp; ORDS REST services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A06612"/>
                </a:solidFill>
                <a:latin typeface="Segoe UI"/>
              </a:rPr>
              <a:t>•  </a:t>
            </a:r>
            <a:r>
              <a:rPr sz="1000" b="0">
                <a:solidFill>
                  <a:srgbClr val="55676E"/>
                </a:solidFill>
                <a:latin typeface="Segoe UI"/>
              </a:rPr>
              <a:t>Web tier (application delivery)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A06612"/>
                </a:solidFill>
                <a:latin typeface="Segoe UI"/>
              </a:rPr>
              <a:t>•  </a:t>
            </a:r>
            <a:r>
              <a:rPr sz="1000" b="0">
                <a:solidFill>
                  <a:srgbClr val="55676E"/>
                </a:solidFill>
                <a:latin typeface="Segoe UI"/>
              </a:rPr>
              <a:t>Integration runners — extract &amp; write-back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A06612"/>
                </a:solidFill>
                <a:latin typeface="Segoe UI"/>
              </a:rPr>
              <a:t>•  </a:t>
            </a:r>
            <a:r>
              <a:rPr sz="1000" b="0">
                <a:solidFill>
                  <a:srgbClr val="55676E"/>
                </a:solidFill>
                <a:latin typeface="Segoe UI"/>
              </a:rPr>
              <a:t>Reporting engines — scheduled PDF / Excel + interactive BI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2852928"/>
            <a:ext cx="4206240" cy="2606040"/>
          </a:xfrm>
          <a:prstGeom prst="roundRect">
            <a:avLst>
              <a:gd name="adj" fmla="val 5000"/>
            </a:avLst>
          </a:prstGeom>
          <a:solidFill>
            <a:srgbClr val="F8FAFA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3017520"/>
            <a:ext cx="3794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C2B31"/>
                </a:solidFill>
                <a:latin typeface="Georgia"/>
              </a:rPr>
              <a:t>ADERP — Oracle Fusion Cloud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456432"/>
            <a:ext cx="37947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A06612"/>
                </a:solidFill>
                <a:latin typeface="Segoe UI"/>
              </a:rPr>
              <a:t>•  </a:t>
            </a:r>
            <a:r>
              <a:rPr sz="1000" b="0">
                <a:solidFill>
                  <a:srgbClr val="55676E"/>
                </a:solidFill>
                <a:latin typeface="Segoe UI"/>
              </a:rPr>
              <a:t>Government shared ERP instance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A06612"/>
                </a:solidFill>
                <a:latin typeface="Segoe UI"/>
              </a:rPr>
              <a:t>•  </a:t>
            </a:r>
            <a:r>
              <a:rPr sz="1000" b="0">
                <a:solidFill>
                  <a:srgbClr val="55676E"/>
                </a:solidFill>
                <a:latin typeface="Segoe UI"/>
              </a:rPr>
              <a:t>Financials — GL, AP, PO / procurement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A06612"/>
                </a:solidFill>
                <a:latin typeface="Segoe UI"/>
              </a:rPr>
              <a:t>•  </a:t>
            </a:r>
            <a:r>
              <a:rPr sz="1000" b="0">
                <a:solidFill>
                  <a:srgbClr val="55676E"/>
                </a:solidFill>
                <a:latin typeface="Segoe UI"/>
              </a:rPr>
              <a:t>Projects &amp; budgets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A06612"/>
                </a:solidFill>
                <a:latin typeface="Segoe UI"/>
              </a:rPr>
              <a:t>•  </a:t>
            </a:r>
            <a:r>
              <a:rPr sz="1000" b="0">
                <a:solidFill>
                  <a:srgbClr val="55676E"/>
                </a:solidFill>
                <a:latin typeface="Segoe UI"/>
              </a:rPr>
              <a:t>OTBI / BIP reporting layer (extract source)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440680" y="3383280"/>
            <a:ext cx="1463040" cy="274320"/>
          </a:xfrm>
          <a:prstGeom prst="rightArrow">
            <a:avLst/>
          </a:prstGeom>
          <a:solidFill>
            <a:srgbClr val="0F52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0" y="3685032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676E"/>
                </a:solidFill>
                <a:latin typeface="Segoe UI"/>
              </a:rPr>
              <a:t>Approved transactions
(e.g. AP invoices)</a:t>
            </a:r>
          </a:p>
        </p:txBody>
      </p:sp>
      <p:sp>
        <p:nvSpPr>
          <p:cNvPr id="25" name="Left Arrow 24"/>
          <p:cNvSpPr/>
          <p:nvPr/>
        </p:nvSpPr>
        <p:spPr>
          <a:xfrm>
            <a:off x="5440680" y="4434840"/>
            <a:ext cx="1463040" cy="274320"/>
          </a:xfrm>
          <a:prstGeom prst="leftArrow">
            <a:avLst/>
          </a:prstGeom>
          <a:solidFill>
            <a:srgbClr val="0E7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66360" y="473659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5676E"/>
                </a:solidFill>
                <a:latin typeface="Segoe UI"/>
              </a:rPr>
              <a:t>Scheduled data extracts
(GL, budgets, AP / PO / PR)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10634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7E9096"/>
                </a:solidFill>
                <a:latin typeface="Segoe UI"/>
              </a:rPr>
              <a:t>Single dedicated tenancy  ·  integration traffic remains inside the data centre  ·  all data resident in Abu Dhabi  ·  government security baseline applied at provisioning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7E9096"/>
                </a:solidFill>
                <a:latin typeface="Segoe UI"/>
              </a:rPr>
              <a:t>iFinance Implementation Plan  ·  DCT Finance Department  ·  July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7E9096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A06612"/>
                </a:solidFill>
                <a:latin typeface="Georgia"/>
              </a:rPr>
              <a:t>3   </a:t>
            </a:r>
            <a:r>
              <a:rPr sz="2600" b="1">
                <a:solidFill>
                  <a:srgbClr val="1C2B31"/>
                </a:solidFill>
                <a:latin typeface="Georgia"/>
              </a:rPr>
              <a:t>Scope &amp; Investment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83112" cy="18288"/>
          </a:xfrm>
          <a:prstGeom prst="rect">
            <a:avLst/>
          </a:prstGeom>
          <a:solidFill>
            <a:srgbClr val="DC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5676E"/>
                </a:solidFill>
                <a:latin typeface="Segoe UI"/>
              </a:rPr>
              <a:t>USD 100,000 fixed quotation — eight business modules in delivery order, on a platform foundation included at no additional cost.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81328"/>
          <a:ext cx="11183112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103120"/>
                <a:gridCol w="6976872"/>
                <a:gridCol w="1645920"/>
              </a:tblGrid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73152" marR="45720" marT="27432" marB="27432">
                    <a:solidFill>
                      <a:srgbClr val="0F526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MODULE</a:t>
                      </a:r>
                    </a:p>
                  </a:txBody>
                  <a:tcPr marL="73152" marR="45720" marT="27432" marB="27432">
                    <a:solidFill>
                      <a:srgbClr val="0F526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WHAT IT DELIVERS</a:t>
                      </a:r>
                    </a:p>
                  </a:txBody>
                  <a:tcPr marL="73152" marR="45720" marT="27432" marB="27432">
                    <a:solidFill>
                      <a:srgbClr val="0F526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STATUS TODAY</a:t>
                      </a:r>
                    </a:p>
                  </a:txBody>
                  <a:tcPr marL="73152" marR="45720" marT="27432" marB="27432">
                    <a:solidFill>
                      <a:srgbClr val="0F526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55676E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C2B31"/>
                          </a:solidFill>
                          <a:latin typeface="Segoe UI"/>
                        </a:rPr>
                        <a:t>General Ledger</a:t>
                      </a:r>
                    </a:p>
                  </a:txBody>
                  <a:tcPr anchor="ctr"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55676E"/>
                          </a:solidFill>
                          <a:latin typeface="Segoe UI"/>
                        </a:rPr>
                        <a:t>CoA classifications (sector / chapter / programme), budget-vs-actuals and budget-utilization reporting over ADERP data</a:t>
                      </a:r>
                    </a:p>
                  </a:txBody>
                  <a:tcPr anchor="ctr"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F5262"/>
                          </a:solidFill>
                          <a:latin typeface="Segoe UI"/>
                        </a:rPr>
                        <a:t>Built &amp; piloted</a:t>
                      </a:r>
                    </a:p>
                  </a:txBody>
                  <a:tcPr anchor="ctr" marL="73152" marR="45720" marT="18288" marB="1828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55676E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73152" marR="45720" marT="18288" marB="18288">
                    <a:solidFill>
                      <a:srgbClr val="F8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C2B31"/>
                          </a:solidFill>
                          <a:latin typeface="Segoe UI"/>
                        </a:rPr>
                        <a:t>Reporting &amp; BI</a:t>
                      </a:r>
                    </a:p>
                  </a:txBody>
                  <a:tcPr anchor="ctr" marL="73152" marR="45720" marT="18288" marB="18288">
                    <a:solidFill>
                      <a:srgbClr val="F8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55676E"/>
                          </a:solidFill>
                          <a:latin typeface="Segoe UI"/>
                        </a:rPr>
                        <a:t>Scheduled report distribution (PDF / Excel by email) and interactive self-service reports</a:t>
                      </a:r>
                    </a:p>
                  </a:txBody>
                  <a:tcPr anchor="ctr" marL="73152" marR="45720" marT="18288" marB="18288">
                    <a:solidFill>
                      <a:srgbClr val="F8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F5262"/>
                          </a:solidFill>
                          <a:latin typeface="Segoe UI"/>
                        </a:rPr>
                        <a:t>Built &amp; piloted</a:t>
                      </a:r>
                    </a:p>
                  </a:txBody>
                  <a:tcPr anchor="ctr" marL="73152" marR="45720" marT="18288" marB="18288">
                    <a:solidFill>
                      <a:srgbClr val="F8FAF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55676E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C2B31"/>
                          </a:solidFill>
                          <a:latin typeface="Segoe UI"/>
                        </a:rPr>
                        <a:t>Service Pricing</a:t>
                      </a:r>
                    </a:p>
                  </a:txBody>
                  <a:tcPr anchor="ctr"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55676E"/>
                          </a:solidFill>
                          <a:latin typeface="Segoe UI"/>
                        </a:rPr>
                        <a:t>Pricing catalogue for DCT services — price definition, change approvals, effective-dated price lists (Sprint 2, with Reporting)</a:t>
                      </a:r>
                    </a:p>
                  </a:txBody>
                  <a:tcPr anchor="ctr"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B0721E"/>
                          </a:solidFill>
                          <a:latin typeface="Segoe UI"/>
                        </a:rPr>
                        <a:t>New build</a:t>
                      </a:r>
                    </a:p>
                  </a:txBody>
                  <a:tcPr anchor="ctr" marL="73152" marR="45720" marT="18288" marB="1828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55676E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73152" marR="45720" marT="18288" marB="18288">
                    <a:solidFill>
                      <a:srgbClr val="F8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C2B31"/>
                          </a:solidFill>
                          <a:latin typeface="Segoe UI"/>
                        </a:rPr>
                        <a:t>Freelancers</a:t>
                      </a:r>
                    </a:p>
                  </a:txBody>
                  <a:tcPr anchor="ctr" marL="73152" marR="45720" marT="18288" marB="18288">
                    <a:solidFill>
                      <a:srgbClr val="F8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55676E"/>
                          </a:solidFill>
                          <a:latin typeface="Segoe UI"/>
                        </a:rPr>
                        <a:t>Registration (incl. public portal with AI-assisted document capture), contracts, vouchers, payments</a:t>
                      </a:r>
                    </a:p>
                  </a:txBody>
                  <a:tcPr anchor="ctr" marL="73152" marR="45720" marT="18288" marB="18288">
                    <a:solidFill>
                      <a:srgbClr val="F8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F5262"/>
                          </a:solidFill>
                          <a:latin typeface="Segoe UI"/>
                        </a:rPr>
                        <a:t>Built &amp; piloted</a:t>
                      </a:r>
                    </a:p>
                  </a:txBody>
                  <a:tcPr anchor="ctr" marL="73152" marR="45720" marT="18288" marB="18288">
                    <a:solidFill>
                      <a:srgbClr val="F8FAF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55676E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C2B31"/>
                          </a:solidFill>
                          <a:latin typeface="Segoe UI"/>
                        </a:rPr>
                        <a:t>Team Management</a:t>
                      </a:r>
                    </a:p>
                  </a:txBody>
                  <a:tcPr anchor="ctr"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55676E"/>
                          </a:solidFill>
                          <a:latin typeface="Segoe UI"/>
                        </a:rPr>
                        <a:t>Team tasks, periodic reporting cycles, member check-ins, executive dashboards</a:t>
                      </a:r>
                    </a:p>
                  </a:txBody>
                  <a:tcPr anchor="ctr"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F5262"/>
                          </a:solidFill>
                          <a:latin typeface="Segoe UI"/>
                        </a:rPr>
                        <a:t>Built &amp; piloted</a:t>
                      </a:r>
                    </a:p>
                  </a:txBody>
                  <a:tcPr anchor="ctr" marL="73152" marR="45720" marT="18288" marB="1828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55676E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 marL="73152" marR="45720" marT="18288" marB="18288">
                    <a:solidFill>
                      <a:srgbClr val="F8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C2B31"/>
                          </a:solidFill>
                          <a:latin typeface="Segoe UI"/>
                        </a:rPr>
                        <a:t>Petty Cash</a:t>
                      </a:r>
                    </a:p>
                  </a:txBody>
                  <a:tcPr anchor="ctr" marL="73152" marR="45720" marT="18288" marB="18288">
                    <a:solidFill>
                      <a:srgbClr val="F8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55676E"/>
                          </a:solidFill>
                          <a:latin typeface="Segoe UI"/>
                        </a:rPr>
                        <a:t>Custody, expenses, clearing &amp; reimbursement with approvals; posts to Fusion AP</a:t>
                      </a:r>
                    </a:p>
                  </a:txBody>
                  <a:tcPr anchor="ctr" marL="73152" marR="45720" marT="18288" marB="18288">
                    <a:solidFill>
                      <a:srgbClr val="F8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F5262"/>
                          </a:solidFill>
                          <a:latin typeface="Segoe UI"/>
                        </a:rPr>
                        <a:t>Built &amp; piloted</a:t>
                      </a:r>
                    </a:p>
                  </a:txBody>
                  <a:tcPr anchor="ctr" marL="73152" marR="45720" marT="18288" marB="18288">
                    <a:solidFill>
                      <a:srgbClr val="F8FAF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55676E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anchor="ctr"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C2B31"/>
                          </a:solidFill>
                          <a:latin typeface="Segoe UI"/>
                        </a:rPr>
                        <a:t>Duty Travel</a:t>
                      </a:r>
                    </a:p>
                  </a:txBody>
                  <a:tcPr anchor="ctr"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55676E"/>
                          </a:solidFill>
                          <a:latin typeface="Segoe UI"/>
                        </a:rPr>
                        <a:t>Travel requests, per-diem calculation, approvals and settlement</a:t>
                      </a:r>
                    </a:p>
                  </a:txBody>
                  <a:tcPr anchor="ctr"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F5262"/>
                          </a:solidFill>
                          <a:latin typeface="Segoe UI"/>
                        </a:rPr>
                        <a:t>Built &amp; piloted</a:t>
                      </a:r>
                    </a:p>
                  </a:txBody>
                  <a:tcPr anchor="ctr" marL="73152" marR="45720" marT="18288" marB="1828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55676E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anchor="ctr" marL="73152" marR="45720" marT="18288" marB="18288">
                    <a:solidFill>
                      <a:srgbClr val="F8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C2B31"/>
                          </a:solidFill>
                          <a:latin typeface="Segoe UI"/>
                        </a:rPr>
                        <a:t>Employee Housing</a:t>
                      </a:r>
                    </a:p>
                  </a:txBody>
                  <a:tcPr anchor="ctr" marL="73152" marR="45720" marT="18288" marB="18288">
                    <a:solidFill>
                      <a:srgbClr val="F8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55676E"/>
                          </a:solidFill>
                          <a:latin typeface="Segoe UI"/>
                        </a:rPr>
                        <a:t>Housing allowance &amp; accommodation requests, eligibility, approvals, payment instructions</a:t>
                      </a:r>
                    </a:p>
                  </a:txBody>
                  <a:tcPr anchor="ctr" marL="73152" marR="45720" marT="18288" marB="18288">
                    <a:solidFill>
                      <a:srgbClr val="F8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B0721E"/>
                          </a:solidFill>
                          <a:latin typeface="Segoe UI"/>
                        </a:rPr>
                        <a:t>New build</a:t>
                      </a:r>
                    </a:p>
                  </a:txBody>
                  <a:tcPr anchor="ctr" marL="73152" marR="45720" marT="18288" marB="18288">
                    <a:solidFill>
                      <a:srgbClr val="F8FAF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55676E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73152" marR="45720" marT="18288" marB="18288">
                    <a:solidFill>
                      <a:srgbClr val="E3EE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C2B31"/>
                          </a:solidFill>
                          <a:latin typeface="Segoe UI"/>
                        </a:rPr>
                        <a:t>Platform foundation</a:t>
                      </a:r>
                    </a:p>
                  </a:txBody>
                  <a:tcPr anchor="ctr" marL="73152" marR="45720" marT="18288" marB="18288">
                    <a:solidFill>
                      <a:srgbClr val="E3EE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55676E"/>
                          </a:solidFill>
                          <a:latin typeface="Segoe UI"/>
                        </a:rPr>
                        <a:t>Included: SSO, roles, delegations, audit, unified approvals inbox, notifications, bilingual EN / AR, mobile app</a:t>
                      </a:r>
                    </a:p>
                  </a:txBody>
                  <a:tcPr anchor="ctr" marL="73152" marR="45720" marT="18288" marB="18288">
                    <a:solidFill>
                      <a:srgbClr val="E3EE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F5262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anchor="ctr" marL="73152" marR="45720" marT="18288" marB="18288">
                    <a:solidFill>
                      <a:srgbClr val="E3EE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94360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7E9096"/>
                </a:solidFill>
                <a:latin typeface="Segoe UI"/>
              </a:rPr>
              <a:t>The quotation is a one-time implementation cost. OCI tenancy infrastructure consumption is billed separately at the Core42 / ADGE rate card (procurement action, section 7).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7E9096"/>
                </a:solidFill>
                <a:latin typeface="Segoe UI"/>
              </a:rPr>
              <a:t>iFinance Implementation Plan  ·  DCT Finance Department  ·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7E9096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A06612"/>
                </a:solidFill>
                <a:latin typeface="Georgia"/>
              </a:rPr>
              <a:t>4   </a:t>
            </a:r>
            <a:r>
              <a:rPr sz="2600" b="1">
                <a:solidFill>
                  <a:srgbClr val="1C2B31"/>
                </a:solidFill>
                <a:latin typeface="Georgia"/>
              </a:rPr>
              <a:t>Options Comparison — Implementation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83112" cy="18288"/>
          </a:xfrm>
          <a:prstGeom prst="rect">
            <a:avLst/>
          </a:prstGeom>
          <a:solidFill>
            <a:srgbClr val="DC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5676E"/>
                </a:solidFill>
                <a:latin typeface="Segoe UI"/>
              </a:rPr>
              <a:t>USD, one-time implementation for a comparable 8-module scope. Alternatives are indicative market benchmark ranges; bar length shows the range midpoint.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C2B31"/>
                </a:solidFill>
                <a:latin typeface="Segoe UI"/>
              </a:rPr>
              <a:t>A — iFinance on OCI @ Core42</a:t>
            </a:r>
          </a:p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7E9096"/>
                </a:solidFill>
                <a:latin typeface="Segoe UI"/>
              </a:rPr>
              <a:t>recommended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920240"/>
            <a:ext cx="8138160" cy="384048"/>
          </a:xfrm>
          <a:prstGeom prst="roundRect">
            <a:avLst>
              <a:gd name="adj" fmla="val 20000"/>
            </a:avLst>
          </a:prstGeom>
          <a:solidFill>
            <a:srgbClr val="ED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4720" y="1920240"/>
            <a:ext cx="773125" cy="384048"/>
          </a:xfrm>
          <a:prstGeom prst="roundRect">
            <a:avLst>
              <a:gd name="adj" fmla="val 20000"/>
            </a:avLst>
          </a:prstGeom>
          <a:solidFill>
            <a:srgbClr val="0E7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5005" y="1920240"/>
            <a:ext cx="718215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2B31"/>
                </a:solidFill>
                <a:latin typeface="Segoe UI"/>
              </a:rPr>
              <a:t>USD 100K — fixed quotation  ·  ≈ 3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98648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C2B31"/>
                </a:solidFill>
                <a:latin typeface="Segoe UI"/>
              </a:rPr>
              <a:t>B — Extend ADERP Fusion</a:t>
            </a:r>
          </a:p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7E9096"/>
                </a:solidFill>
                <a:latin typeface="Segoe UI"/>
              </a:rPr>
              <a:t>custom PaaS extensions via 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971800"/>
            <a:ext cx="8138160" cy="384048"/>
          </a:xfrm>
          <a:prstGeom prst="roundRect">
            <a:avLst>
              <a:gd name="adj" fmla="val 20000"/>
            </a:avLst>
          </a:prstGeom>
          <a:solidFill>
            <a:srgbClr val="ED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0" y="2971800"/>
            <a:ext cx="8138160" cy="384048"/>
          </a:xfrm>
          <a:prstGeom prst="roundRect">
            <a:avLst>
              <a:gd name="adj" fmla="val 20000"/>
            </a:avLst>
          </a:prstGeom>
          <a:solidFill>
            <a:srgbClr val="9AA9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971800"/>
            <a:ext cx="7955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USD 0.7–1.4M indicative  ·  12–18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50208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C2B31"/>
                </a:solidFill>
                <a:latin typeface="Segoe UI"/>
              </a:rPr>
              <a:t>C — COTS point solutions</a:t>
            </a:r>
          </a:p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7E9096"/>
                </a:solidFill>
                <a:latin typeface="Segoe UI"/>
              </a:rPr>
              <a:t>multiple products + integration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4023360"/>
            <a:ext cx="8138160" cy="384048"/>
          </a:xfrm>
          <a:prstGeom prst="roundRect">
            <a:avLst>
              <a:gd name="adj" fmla="val 20000"/>
            </a:avLst>
          </a:prstGeom>
          <a:solidFill>
            <a:srgbClr val="ED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74720" y="4023360"/>
            <a:ext cx="5045659" cy="384048"/>
          </a:xfrm>
          <a:prstGeom prst="roundRect">
            <a:avLst>
              <a:gd name="adj" fmla="val 20000"/>
            </a:avLst>
          </a:prstGeom>
          <a:solidFill>
            <a:srgbClr val="9AA9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7539" y="4023360"/>
            <a:ext cx="29096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2B31"/>
                </a:solidFill>
                <a:latin typeface="Segoe UI"/>
              </a:rPr>
              <a:t>USD 0.5–0.9M indicative  ·  6–12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394960"/>
            <a:ext cx="111831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A06612"/>
                </a:solidFill>
                <a:latin typeface="Segoe UI"/>
              </a:rPr>
              <a:t>•  </a:t>
            </a:r>
            <a:r>
              <a:rPr sz="1200" b="1">
                <a:solidFill>
                  <a:srgbClr val="1C2B31"/>
                </a:solidFill>
                <a:latin typeface="Segoe UI"/>
              </a:rPr>
              <a:t>Option A is ~10× lower cost </a:t>
            </a:r>
            <a:r>
              <a:rPr sz="1200" b="0">
                <a:solidFill>
                  <a:srgbClr val="55676E"/>
                </a:solidFill>
                <a:latin typeface="Segoe UI"/>
              </a:rPr>
              <a:t>than extending ADERP Fusion, and 4–6× faster than either alternative.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A06612"/>
                </a:solidFill>
                <a:latin typeface="Segoe UI"/>
              </a:rPr>
              <a:t>•  </a:t>
            </a:r>
            <a:r>
              <a:rPr sz="1200" b="1">
                <a:solidFill>
                  <a:srgbClr val="1C2B31"/>
                </a:solidFill>
                <a:latin typeface="Segoe UI"/>
              </a:rPr>
              <a:t>No recurring application licences </a:t>
            </a:r>
            <a:r>
              <a:rPr sz="1200" b="0">
                <a:solidFill>
                  <a:srgbClr val="55676E"/>
                </a:solidFill>
                <a:latin typeface="Segoe UI"/>
              </a:rPr>
              <a:t>— APEX / ORDS / JET runtimes are included with the Oracle database.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7E9096"/>
                </a:solidFill>
                <a:latin typeface="Segoe UI"/>
              </a:rPr>
              <a:t>iFinance Implementation Plan  ·  DCT Finance Department  ·  July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7E9096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A06612"/>
                </a:solidFill>
                <a:latin typeface="Georgia"/>
              </a:rPr>
              <a:t>4   </a:t>
            </a:r>
            <a:r>
              <a:rPr sz="2600" b="1">
                <a:solidFill>
                  <a:srgbClr val="1C2B31"/>
                </a:solidFill>
                <a:latin typeface="Georgia"/>
              </a:rPr>
              <a:t>Options Comparison — Evaluation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83112" cy="18288"/>
          </a:xfrm>
          <a:prstGeom prst="rect">
            <a:avLst/>
          </a:prstGeom>
          <a:solidFill>
            <a:srgbClr val="DC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8311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383280"/>
                <a:gridCol w="2926080"/>
                <a:gridCol w="2862072"/>
              </a:tblGrid>
              <a:tr h="666205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45720">
                    <a:solidFill>
                      <a:srgbClr val="0F526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A — iFINANCE ON OCI @ CORE42  (RECOMMENDED)</a:t>
                      </a:r>
                    </a:p>
                  </a:txBody>
                  <a:tcPr marL="73152" marR="45720">
                    <a:solidFill>
                      <a:srgbClr val="0E7E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B — EXTEND ADERP FUSION</a:t>
                      </a:r>
                    </a:p>
                  </a:txBody>
                  <a:tcPr marL="73152" marR="45720">
                    <a:solidFill>
                      <a:srgbClr val="0F526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C — COTS POINT SOLUTIONS</a:t>
                      </a:r>
                    </a:p>
                  </a:txBody>
                  <a:tcPr marL="73152" marR="45720">
                    <a:solidFill>
                      <a:srgbClr val="0F5262"/>
                    </a:solidFill>
                  </a:tcPr>
                </a:tc>
              </a:tr>
              <a:tr h="666205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C2B31"/>
                          </a:solidFill>
                          <a:latin typeface="Segoe UI"/>
                        </a:rPr>
                        <a:t>Technology alignment</a:t>
                      </a:r>
                    </a:p>
                  </a:txBody>
                  <a:tcPr anchor="ctr"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C2B31"/>
                          </a:solidFill>
                          <a:latin typeface="Segoe UI"/>
                        </a:rPr>
                        <a:t>Full Oracle stack, same data centre as ADERP; aligned with ADGE direction</a:t>
                      </a:r>
                    </a:p>
                  </a:txBody>
                  <a:tcPr anchor="ctr" marL="73152" marR="45720" marT="27432" marB="27432">
                    <a:solidFill>
                      <a:srgbClr val="E3EE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55676E"/>
                          </a:solidFill>
                          <a:latin typeface="Segoe UI"/>
                        </a:rPr>
                        <a:t>Oracle-aligned, but bound to the shared-instance change pipeline</a:t>
                      </a:r>
                    </a:p>
                  </a:txBody>
                  <a:tcPr anchor="ctr"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55676E"/>
                          </a:solidFill>
                          <a:latin typeface="Segoe UI"/>
                        </a:rPr>
                        <a:t>Mixed vendors; new stacks to secure and support</a:t>
                      </a:r>
                    </a:p>
                  </a:txBody>
                  <a:tcPr anchor="ctr" marL="73152" marR="45720" marT="27432" marB="27432"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C2B31"/>
                          </a:solidFill>
                          <a:latin typeface="Segoe UI"/>
                        </a:rPr>
                        <a:t>Fusion integration</a:t>
                      </a:r>
                    </a:p>
                  </a:txBody>
                  <a:tcPr anchor="ctr" marL="73152" marR="45720" marT="27432" marB="27432">
                    <a:solidFill>
                      <a:srgbClr val="F8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C2B31"/>
                          </a:solidFill>
                          <a:latin typeface="Segoe UI"/>
                        </a:rPr>
                        <a:t>Both directions, already proven in pilot; in-data-centre traffic</a:t>
                      </a:r>
                    </a:p>
                  </a:txBody>
                  <a:tcPr anchor="ctr" marL="73152" marR="45720" marT="27432" marB="27432">
                    <a:solidFill>
                      <a:srgbClr val="E3EE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55676E"/>
                          </a:solidFill>
                          <a:latin typeface="Segoe UI"/>
                        </a:rPr>
                        <a:t>Native, but every change is a central change request</a:t>
                      </a:r>
                    </a:p>
                  </a:txBody>
                  <a:tcPr anchor="ctr" marL="73152" marR="45720" marT="27432" marB="27432">
                    <a:solidFill>
                      <a:srgbClr val="F8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55676E"/>
                          </a:solidFill>
                          <a:latin typeface="Segoe UI"/>
                        </a:rPr>
                        <a:t>Per-product connectors; typical gaps and duplication</a:t>
                      </a:r>
                    </a:p>
                  </a:txBody>
                  <a:tcPr anchor="ctr" marL="73152" marR="45720" marT="27432" marB="27432">
                    <a:solidFill>
                      <a:srgbClr val="F8FAFA"/>
                    </a:solidFill>
                  </a:tcPr>
                </a:tc>
              </a:tr>
              <a:tr h="666205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C2B31"/>
                          </a:solidFill>
                          <a:latin typeface="Segoe UI"/>
                        </a:rPr>
                        <a:t>Delivery time</a:t>
                      </a:r>
                    </a:p>
                  </a:txBody>
                  <a:tcPr anchor="ctr"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C2B31"/>
                          </a:solidFill>
                          <a:latin typeface="Segoe UI"/>
                        </a:rPr>
                        <a:t>≈ 3 months; first go-live week 3, then every two weeks</a:t>
                      </a:r>
                    </a:p>
                  </a:txBody>
                  <a:tcPr anchor="ctr" marL="73152" marR="45720" marT="27432" marB="27432">
                    <a:solidFill>
                      <a:srgbClr val="E3EE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55676E"/>
                          </a:solidFill>
                          <a:latin typeface="Segoe UI"/>
                        </a:rPr>
                        <a:t>12–18 months typical</a:t>
                      </a:r>
                    </a:p>
                  </a:txBody>
                  <a:tcPr anchor="ctr"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55676E"/>
                          </a:solidFill>
                          <a:latin typeface="Segoe UI"/>
                        </a:rPr>
                        <a:t>6–12 months typical</a:t>
                      </a:r>
                    </a:p>
                  </a:txBody>
                  <a:tcPr anchor="ctr" marL="73152" marR="45720" marT="27432" marB="27432"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C2B31"/>
                          </a:solidFill>
                          <a:latin typeface="Segoe UI"/>
                        </a:rPr>
                        <a:t>Cost (indicative)</a:t>
                      </a:r>
                    </a:p>
                  </a:txBody>
                  <a:tcPr anchor="ctr" marL="73152" marR="45720" marT="27432" marB="27432">
                    <a:solidFill>
                      <a:srgbClr val="F8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C2B31"/>
                          </a:solidFill>
                          <a:latin typeface="Segoe UI"/>
                        </a:rPr>
                        <a:t>USD 100K fixed; no per-user licensing</a:t>
                      </a:r>
                    </a:p>
                  </a:txBody>
                  <a:tcPr anchor="ctr" marL="73152" marR="45720" marT="27432" marB="27432">
                    <a:solidFill>
                      <a:srgbClr val="E3EE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55676E"/>
                          </a:solidFill>
                          <a:latin typeface="Segoe UI"/>
                        </a:rPr>
                        <a:t>USD 0.7–1.4M</a:t>
                      </a:r>
                    </a:p>
                  </a:txBody>
                  <a:tcPr anchor="ctr" marL="73152" marR="45720" marT="27432" marB="27432">
                    <a:solidFill>
                      <a:srgbClr val="F8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55676E"/>
                          </a:solidFill>
                          <a:latin typeface="Segoe UI"/>
                        </a:rPr>
                        <a:t>USD 0.5–0.9M + recurring licences</a:t>
                      </a:r>
                    </a:p>
                  </a:txBody>
                  <a:tcPr anchor="ctr" marL="73152" marR="45720" marT="27432" marB="27432">
                    <a:solidFill>
                      <a:srgbClr val="F8FAFA"/>
                    </a:solidFill>
                  </a:tcPr>
                </a:tc>
              </a:tr>
              <a:tr h="666205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C2B31"/>
                          </a:solidFill>
                          <a:latin typeface="Segoe UI"/>
                        </a:rPr>
                        <a:t>Data residency</a:t>
                      </a:r>
                    </a:p>
                  </a:txBody>
                  <a:tcPr anchor="ctr"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C2B31"/>
                          </a:solidFill>
                          <a:latin typeface="Segoe UI"/>
                        </a:rPr>
                        <a:t>Abu Dhabi (Core42) — same facility as ADERP</a:t>
                      </a:r>
                    </a:p>
                  </a:txBody>
                  <a:tcPr anchor="ctr" marL="73152" marR="45720" marT="27432" marB="27432">
                    <a:solidFill>
                      <a:srgbClr val="E3EE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55676E"/>
                          </a:solidFill>
                          <a:latin typeface="Segoe UI"/>
                        </a:rPr>
                        <a:t>Abu Dhabi (Core42)</a:t>
                      </a:r>
                    </a:p>
                  </a:txBody>
                  <a:tcPr anchor="ctr"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55676E"/>
                          </a:solidFill>
                          <a:latin typeface="Segoe UI"/>
                        </a:rPr>
                        <a:t>Varies by vendor; assessed per product</a:t>
                      </a:r>
                    </a:p>
                  </a:txBody>
                  <a:tcPr anchor="ctr" marL="73152" marR="45720" marT="27432" marB="27432">
                    <a:solidFill>
                      <a:srgbClr val="FFFFFF"/>
                    </a:solidFill>
                  </a:tcPr>
                </a:tc>
              </a:tr>
              <a:tr h="66621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C2B31"/>
                          </a:solidFill>
                          <a:latin typeface="Segoe UI"/>
                        </a:rPr>
                        <a:t>Change speed after go-live</a:t>
                      </a:r>
                    </a:p>
                  </a:txBody>
                  <a:tcPr anchor="ctr" marL="73152" marR="45720" marT="27432" marB="27432">
                    <a:solidFill>
                      <a:srgbClr val="F8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C2B31"/>
                          </a:solidFill>
                          <a:latin typeface="Segoe UI"/>
                        </a:rPr>
                        <a:t>Days — DCT-controlled tenancy and codebase</a:t>
                      </a:r>
                    </a:p>
                  </a:txBody>
                  <a:tcPr anchor="ctr" marL="73152" marR="45720" marT="27432" marB="27432">
                    <a:solidFill>
                      <a:srgbClr val="E3EE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55676E"/>
                          </a:solidFill>
                          <a:latin typeface="Segoe UI"/>
                        </a:rPr>
                        <a:t>Weeks–months via the shared change pipeline</a:t>
                      </a:r>
                    </a:p>
                  </a:txBody>
                  <a:tcPr anchor="ctr" marL="73152" marR="45720" marT="27432" marB="27432">
                    <a:solidFill>
                      <a:srgbClr val="F8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55676E"/>
                          </a:solidFill>
                          <a:latin typeface="Segoe UI"/>
                        </a:rPr>
                        <a:t>Vendor roadmap dependent</a:t>
                      </a:r>
                    </a:p>
                  </a:txBody>
                  <a:tcPr anchor="ctr" marL="73152" marR="45720" marT="27432" marB="27432">
                    <a:solidFill>
                      <a:srgbClr val="F8FA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7E9096"/>
                </a:solidFill>
                <a:latin typeface="Segoe UI"/>
              </a:rPr>
              <a:t>iFinance Implementation Plan  ·  DCT Finance Department  · 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7E9096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A06612"/>
                </a:solidFill>
                <a:latin typeface="Georgia"/>
              </a:rPr>
              <a:t>5   </a:t>
            </a:r>
            <a:r>
              <a:rPr sz="2600" b="1">
                <a:solidFill>
                  <a:srgbClr val="1C2B31"/>
                </a:solidFill>
                <a:latin typeface="Georgia"/>
              </a:rPr>
              <a:t>Implementation Timeline — Agile Delivery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83112" cy="18288"/>
          </a:xfrm>
          <a:prstGeom prst="rect">
            <a:avLst/>
          </a:prstGeom>
          <a:solidFill>
            <a:srgbClr val="DC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5676E"/>
                </a:solidFill>
                <a:latin typeface="Segoe UI"/>
              </a:rPr>
              <a:t>Tenancy provisioned within one week of contract signature  ·  seven two-week sprints delivering eight modules  ·  go-live every two weeks from week 3  ·  full scope live by week 15 (≈ 3 months).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1527048"/>
            <a:ext cx="560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E9096"/>
                </a:solidFill>
                <a:latin typeface="Segoe UI"/>
              </a:rPr>
              <a:t>W1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6952" y="1527048"/>
            <a:ext cx="560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E9096"/>
                </a:solidFill>
                <a:latin typeface="Segoe UI"/>
              </a:rPr>
              <a:t>W2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67784" y="1527048"/>
            <a:ext cx="560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E9096"/>
                </a:solidFill>
                <a:latin typeface="Segoe UI"/>
              </a:rPr>
              <a:t>W3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28616" y="1527048"/>
            <a:ext cx="560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E9096"/>
                </a:solidFill>
                <a:latin typeface="Segoe UI"/>
              </a:rPr>
              <a:t>W4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9448" y="1527048"/>
            <a:ext cx="560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E9096"/>
                </a:solidFill>
                <a:latin typeface="Segoe UI"/>
              </a:rPr>
              <a:t>W5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0280" y="1527048"/>
            <a:ext cx="560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E9096"/>
                </a:solidFill>
                <a:latin typeface="Segoe UI"/>
              </a:rPr>
              <a:t>W6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1527048"/>
            <a:ext cx="560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E9096"/>
                </a:solidFill>
                <a:latin typeface="Segoe UI"/>
              </a:rPr>
              <a:t>W7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1944" y="1527048"/>
            <a:ext cx="560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E9096"/>
                </a:solidFill>
                <a:latin typeface="Segoe UI"/>
              </a:rPr>
              <a:t>W8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32776" y="1527048"/>
            <a:ext cx="560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E9096"/>
                </a:solidFill>
                <a:latin typeface="Segoe UI"/>
              </a:rPr>
              <a:t>W9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527048"/>
            <a:ext cx="560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E9096"/>
                </a:solidFill>
                <a:latin typeface="Segoe UI"/>
              </a:rPr>
              <a:t>W10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4440" y="1527048"/>
            <a:ext cx="560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E9096"/>
                </a:solidFill>
                <a:latin typeface="Segoe UI"/>
              </a:rPr>
              <a:t>W11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5272" y="1527048"/>
            <a:ext cx="560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E9096"/>
                </a:solidFill>
                <a:latin typeface="Segoe UI"/>
              </a:rPr>
              <a:t>W12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76104" y="1527048"/>
            <a:ext cx="560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E9096"/>
                </a:solidFill>
                <a:latin typeface="Segoe UI"/>
              </a:rPr>
              <a:t>W13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36936" y="1527048"/>
            <a:ext cx="560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E9096"/>
                </a:solidFill>
                <a:latin typeface="Segoe UI"/>
              </a:rPr>
              <a:t>W14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7768" y="1527048"/>
            <a:ext cx="560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E9096"/>
                </a:solidFill>
                <a:latin typeface="Segoe UI"/>
              </a:rPr>
              <a:t>W15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1783080"/>
            <a:ext cx="7315" cy="3246120"/>
          </a:xfrm>
          <a:prstGeom prst="rect">
            <a:avLst/>
          </a:prstGeom>
          <a:solidFill>
            <a:srgbClr val="DC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06952" y="1783080"/>
            <a:ext cx="7315" cy="3246120"/>
          </a:xfrm>
          <a:prstGeom prst="rect">
            <a:avLst/>
          </a:prstGeom>
          <a:solidFill>
            <a:srgbClr val="DC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67784" y="1783080"/>
            <a:ext cx="7315" cy="3246120"/>
          </a:xfrm>
          <a:prstGeom prst="rect">
            <a:avLst/>
          </a:prstGeom>
          <a:solidFill>
            <a:srgbClr val="DC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28616" y="1783080"/>
            <a:ext cx="7315" cy="3246120"/>
          </a:xfrm>
          <a:prstGeom prst="rect">
            <a:avLst/>
          </a:prstGeom>
          <a:solidFill>
            <a:srgbClr val="DC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9448" y="1783080"/>
            <a:ext cx="7315" cy="3246120"/>
          </a:xfrm>
          <a:prstGeom prst="rect">
            <a:avLst/>
          </a:prstGeom>
          <a:solidFill>
            <a:srgbClr val="DC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50280" y="1783080"/>
            <a:ext cx="7315" cy="3246120"/>
          </a:xfrm>
          <a:prstGeom prst="rect">
            <a:avLst/>
          </a:prstGeom>
          <a:solidFill>
            <a:srgbClr val="DC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11112" y="1783080"/>
            <a:ext cx="7315" cy="3246120"/>
          </a:xfrm>
          <a:prstGeom prst="rect">
            <a:avLst/>
          </a:prstGeom>
          <a:solidFill>
            <a:srgbClr val="DC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71944" y="1783080"/>
            <a:ext cx="7315" cy="3246120"/>
          </a:xfrm>
          <a:prstGeom prst="rect">
            <a:avLst/>
          </a:prstGeom>
          <a:solidFill>
            <a:srgbClr val="DC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32776" y="1783080"/>
            <a:ext cx="7315" cy="3246120"/>
          </a:xfrm>
          <a:prstGeom prst="rect">
            <a:avLst/>
          </a:prstGeom>
          <a:solidFill>
            <a:srgbClr val="DC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93608" y="1783080"/>
            <a:ext cx="7315" cy="3246120"/>
          </a:xfrm>
          <a:prstGeom prst="rect">
            <a:avLst/>
          </a:prstGeom>
          <a:solidFill>
            <a:srgbClr val="DC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54440" y="1783080"/>
            <a:ext cx="7315" cy="3246120"/>
          </a:xfrm>
          <a:prstGeom prst="rect">
            <a:avLst/>
          </a:prstGeom>
          <a:solidFill>
            <a:srgbClr val="DC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15272" y="1783080"/>
            <a:ext cx="7315" cy="3246120"/>
          </a:xfrm>
          <a:prstGeom prst="rect">
            <a:avLst/>
          </a:prstGeom>
          <a:solidFill>
            <a:srgbClr val="DC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76104" y="1783080"/>
            <a:ext cx="7315" cy="3246120"/>
          </a:xfrm>
          <a:prstGeom prst="rect">
            <a:avLst/>
          </a:prstGeom>
          <a:solidFill>
            <a:srgbClr val="DC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536936" y="1783080"/>
            <a:ext cx="7315" cy="3246120"/>
          </a:xfrm>
          <a:prstGeom prst="rect">
            <a:avLst/>
          </a:prstGeom>
          <a:solidFill>
            <a:srgbClr val="DC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097768" y="1783080"/>
            <a:ext cx="7315" cy="3246120"/>
          </a:xfrm>
          <a:prstGeom prst="rect">
            <a:avLst/>
          </a:prstGeom>
          <a:solidFill>
            <a:srgbClr val="DC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658600" y="1783080"/>
            <a:ext cx="7315" cy="3246120"/>
          </a:xfrm>
          <a:prstGeom prst="rect">
            <a:avLst/>
          </a:prstGeom>
          <a:solidFill>
            <a:srgbClr val="DC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1801368"/>
            <a:ext cx="26974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C2B31"/>
                </a:solidFill>
                <a:latin typeface="Segoe UI"/>
              </a:rPr>
              <a:t>Tenancy provisioning &amp; platform foundation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64408" y="1847088"/>
            <a:ext cx="524255" cy="192024"/>
          </a:xfrm>
          <a:prstGeom prst="roundRect">
            <a:avLst>
              <a:gd name="adj" fmla="val 35000"/>
            </a:avLst>
          </a:prstGeom>
          <a:solidFill>
            <a:srgbClr val="0E7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64408" y="1842516"/>
            <a:ext cx="524255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W1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2125979"/>
            <a:ext cx="26974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C2B31"/>
                </a:solidFill>
                <a:latin typeface="Segoe UI"/>
              </a:rPr>
              <a:t>Sprint 1  ·  General Ledger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25239" y="2171699"/>
            <a:ext cx="1085087" cy="192024"/>
          </a:xfrm>
          <a:prstGeom prst="roundRect">
            <a:avLst>
              <a:gd name="adj" fmla="val 35000"/>
            </a:avLst>
          </a:prstGeom>
          <a:solidFill>
            <a:srgbClr val="B0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25239" y="2167127"/>
            <a:ext cx="1085087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W2–3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2450592"/>
            <a:ext cx="26974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C2B31"/>
                </a:solidFill>
                <a:latin typeface="Segoe UI"/>
              </a:rPr>
              <a:t>Sprint 2  ·  Reporting &amp; BI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946903" y="2496312"/>
            <a:ext cx="1085087" cy="192024"/>
          </a:xfrm>
          <a:prstGeom prst="roundRect">
            <a:avLst>
              <a:gd name="adj" fmla="val 35000"/>
            </a:avLst>
          </a:prstGeom>
          <a:solidFill>
            <a:srgbClr val="B0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46903" y="2491740"/>
            <a:ext cx="1085087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W4–5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2775203"/>
            <a:ext cx="26974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C2B31"/>
                </a:solidFill>
                <a:latin typeface="Segoe UI"/>
              </a:rPr>
              <a:t>Sprint 2  ·  Service Pricing (new build)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46903" y="2820923"/>
            <a:ext cx="1085087" cy="192024"/>
          </a:xfrm>
          <a:prstGeom prst="roundRect">
            <a:avLst>
              <a:gd name="adj" fmla="val 35000"/>
            </a:avLst>
          </a:prstGeom>
          <a:solidFill>
            <a:srgbClr val="B0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46903" y="2816351"/>
            <a:ext cx="1085087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W4–5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3099816"/>
            <a:ext cx="26974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C2B31"/>
                </a:solidFill>
                <a:latin typeface="Segoe UI"/>
              </a:rPr>
              <a:t>Sprint 3  ·  Freelancers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68567" y="3145536"/>
            <a:ext cx="1085087" cy="192024"/>
          </a:xfrm>
          <a:prstGeom prst="roundRect">
            <a:avLst>
              <a:gd name="adj" fmla="val 35000"/>
            </a:avLst>
          </a:prstGeom>
          <a:solidFill>
            <a:srgbClr val="B0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68567" y="3140964"/>
            <a:ext cx="1085087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W6–7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3424427"/>
            <a:ext cx="26974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C2B31"/>
                </a:solidFill>
                <a:latin typeface="Segoe UI"/>
              </a:rPr>
              <a:t>Sprint 4  ·  Team Management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190231" y="3470147"/>
            <a:ext cx="1085087" cy="192024"/>
          </a:xfrm>
          <a:prstGeom prst="roundRect">
            <a:avLst>
              <a:gd name="adj" fmla="val 35000"/>
            </a:avLst>
          </a:prstGeom>
          <a:solidFill>
            <a:srgbClr val="B0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90231" y="3465575"/>
            <a:ext cx="1085087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W8–9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3749039"/>
            <a:ext cx="26974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C2B31"/>
                </a:solidFill>
                <a:latin typeface="Segoe UI"/>
              </a:rPr>
              <a:t>Sprint 5  ·  Petty Cash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11896" y="3794760"/>
            <a:ext cx="1085087" cy="192024"/>
          </a:xfrm>
          <a:prstGeom prst="roundRect">
            <a:avLst>
              <a:gd name="adj" fmla="val 35000"/>
            </a:avLst>
          </a:prstGeom>
          <a:solidFill>
            <a:srgbClr val="B0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11896" y="3790188"/>
            <a:ext cx="1085087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W10–11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4073651"/>
            <a:ext cx="26974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C2B31"/>
                </a:solidFill>
                <a:latin typeface="Segoe UI"/>
              </a:rPr>
              <a:t>Sprint 6  ·  Duty Travel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433560" y="4119372"/>
            <a:ext cx="1085087" cy="192024"/>
          </a:xfrm>
          <a:prstGeom prst="roundRect">
            <a:avLst>
              <a:gd name="adj" fmla="val 35000"/>
            </a:avLst>
          </a:prstGeom>
          <a:solidFill>
            <a:srgbClr val="B0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33560" y="4114800"/>
            <a:ext cx="1085087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W12–13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4398264"/>
            <a:ext cx="26974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C2B31"/>
                </a:solidFill>
                <a:latin typeface="Segoe UI"/>
              </a:rPr>
              <a:t>Sprint 7  ·  Employee Housing (new build)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555224" y="4443984"/>
            <a:ext cx="1085087" cy="192024"/>
          </a:xfrm>
          <a:prstGeom prst="roundRect">
            <a:avLst>
              <a:gd name="adj" fmla="val 35000"/>
            </a:avLst>
          </a:prstGeom>
          <a:solidFill>
            <a:srgbClr val="B0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555224" y="4439412"/>
            <a:ext cx="1085087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W14–15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4722875"/>
            <a:ext cx="26974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C2B31"/>
                </a:solidFill>
                <a:latin typeface="Segoe UI"/>
              </a:rPr>
              <a:t>Fusion integration · support · hypercare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825239" y="4768596"/>
            <a:ext cx="7815072" cy="192024"/>
          </a:xfrm>
          <a:prstGeom prst="roundRect">
            <a:avLst>
              <a:gd name="adj" fmla="val 35000"/>
            </a:avLst>
          </a:prstGeom>
          <a:solidFill>
            <a:srgbClr val="0E7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825239" y="4764024"/>
            <a:ext cx="7815072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W2–15  (continuous)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2920" y="5084064"/>
            <a:ext cx="11183112" cy="13716"/>
          </a:xfrm>
          <a:prstGeom prst="rect">
            <a:avLst/>
          </a:prstGeom>
          <a:solidFill>
            <a:srgbClr val="DC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iamond 67"/>
          <p:cNvSpPr/>
          <p:nvPr/>
        </p:nvSpPr>
        <p:spPr>
          <a:xfrm>
            <a:off x="3742943" y="5138928"/>
            <a:ext cx="128016" cy="128016"/>
          </a:xfrm>
          <a:prstGeom prst="diamond">
            <a:avLst/>
          </a:prstGeom>
          <a:solidFill>
            <a:srgbClr val="A06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389632" y="5303520"/>
            <a:ext cx="1481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C2B31"/>
                </a:solidFill>
                <a:latin typeface="Segoe UI"/>
              </a:rPr>
              <a:t>M1  </a:t>
            </a:r>
            <a:r>
              <a:rPr sz="850" b="0">
                <a:solidFill>
                  <a:srgbClr val="55676E"/>
                </a:solidFill>
                <a:latin typeface="Segoe UI"/>
              </a:rPr>
              <a:t>Platform ready</a:t>
            </a:r>
          </a:p>
        </p:txBody>
      </p:sp>
      <p:sp>
        <p:nvSpPr>
          <p:cNvPr id="70" name="Diamond 69"/>
          <p:cNvSpPr/>
          <p:nvPr/>
        </p:nvSpPr>
        <p:spPr>
          <a:xfrm>
            <a:off x="4864607" y="5138928"/>
            <a:ext cx="128016" cy="128016"/>
          </a:xfrm>
          <a:prstGeom prst="diamond">
            <a:avLst/>
          </a:prstGeom>
          <a:solidFill>
            <a:srgbClr val="A06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923129" y="5285232"/>
            <a:ext cx="10972" cy="274320"/>
          </a:xfrm>
          <a:prstGeom prst="rect">
            <a:avLst/>
          </a:prstGeom>
          <a:solidFill>
            <a:srgbClr val="DC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511296" y="5614416"/>
            <a:ext cx="1481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C2B31"/>
                </a:solidFill>
                <a:latin typeface="Segoe UI"/>
              </a:rPr>
              <a:t>M2  </a:t>
            </a:r>
            <a:r>
              <a:rPr sz="850" b="0">
                <a:solidFill>
                  <a:srgbClr val="55676E"/>
                </a:solidFill>
                <a:latin typeface="Segoe UI"/>
              </a:rPr>
              <a:t>First module live (GL)</a:t>
            </a:r>
          </a:p>
        </p:txBody>
      </p:sp>
      <p:sp>
        <p:nvSpPr>
          <p:cNvPr id="73" name="Diamond 72"/>
          <p:cNvSpPr/>
          <p:nvPr/>
        </p:nvSpPr>
        <p:spPr>
          <a:xfrm>
            <a:off x="8229600" y="5138928"/>
            <a:ext cx="128016" cy="128016"/>
          </a:xfrm>
          <a:prstGeom prst="diamond">
            <a:avLst/>
          </a:prstGeom>
          <a:solidFill>
            <a:srgbClr val="A06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76288" y="5303520"/>
            <a:ext cx="1481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C2B31"/>
                </a:solidFill>
                <a:latin typeface="Segoe UI"/>
              </a:rPr>
              <a:t>M3  </a:t>
            </a:r>
            <a:r>
              <a:rPr sz="850" b="0">
                <a:solidFill>
                  <a:srgbClr val="55676E"/>
                </a:solidFill>
                <a:latin typeface="Segoe UI"/>
              </a:rPr>
              <a:t>5 of 8 modules live</a:t>
            </a:r>
          </a:p>
        </p:txBody>
      </p:sp>
      <p:sp>
        <p:nvSpPr>
          <p:cNvPr id="75" name="Diamond 74"/>
          <p:cNvSpPr/>
          <p:nvPr/>
        </p:nvSpPr>
        <p:spPr>
          <a:xfrm>
            <a:off x="11594592" y="5138928"/>
            <a:ext cx="128016" cy="128016"/>
          </a:xfrm>
          <a:prstGeom prst="diamond">
            <a:avLst/>
          </a:prstGeom>
          <a:solidFill>
            <a:srgbClr val="A06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241280" y="5303520"/>
            <a:ext cx="14813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C2B31"/>
                </a:solidFill>
                <a:latin typeface="Segoe UI"/>
              </a:rPr>
              <a:t>M4  </a:t>
            </a:r>
            <a:r>
              <a:rPr sz="850" b="0">
                <a:solidFill>
                  <a:srgbClr val="55676E"/>
                </a:solidFill>
                <a:latin typeface="Segoe UI"/>
              </a:rPr>
              <a:t>Full scope live &amp; handover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02920" y="6053328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0E7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1520" y="602589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5676E"/>
                </a:solidFill>
                <a:latin typeface="Segoe UI"/>
              </a:rPr>
              <a:t>Platform &amp; integration workstream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931920" y="6053328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B0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160520" y="6025896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5676E"/>
                </a:solidFill>
                <a:latin typeface="Segoe UI"/>
              </a:rPr>
              <a:t>Module delivery sprints (2 weeks each, incl. UAT &amp; training)</a:t>
            </a:r>
          </a:p>
        </p:txBody>
      </p:sp>
      <p:sp>
        <p:nvSpPr>
          <p:cNvPr id="81" name="Diamond 80"/>
          <p:cNvSpPr/>
          <p:nvPr/>
        </p:nvSpPr>
        <p:spPr>
          <a:xfrm>
            <a:off x="8641080" y="6071616"/>
            <a:ext cx="128016" cy="128016"/>
          </a:xfrm>
          <a:prstGeom prst="diamond">
            <a:avLst/>
          </a:prstGeom>
          <a:solidFill>
            <a:srgbClr val="A06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851392" y="602589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5676E"/>
                </a:solidFill>
                <a:latin typeface="Segoe UI"/>
              </a:rPr>
              <a:t>Milestone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7E9096"/>
                </a:solidFill>
                <a:latin typeface="Segoe UI"/>
              </a:rPr>
              <a:t>iFinance Implementation Plan  ·  DCT Finance Department  ·  July 2026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7E9096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A06612"/>
                </a:solidFill>
                <a:latin typeface="Georgia"/>
              </a:rPr>
              <a:t>5   </a:t>
            </a:r>
            <a:r>
              <a:rPr sz="2600" b="1">
                <a:solidFill>
                  <a:srgbClr val="1C2B31"/>
                </a:solidFill>
                <a:latin typeface="Georgia"/>
              </a:rPr>
              <a:t>Inside Each Two-Week Sprint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83112" cy="18288"/>
          </a:xfrm>
          <a:prstGeom prst="rect">
            <a:avLst/>
          </a:prstGeom>
          <a:solidFill>
            <a:srgbClr val="DC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011680"/>
            <a:ext cx="2130552" cy="2651760"/>
          </a:xfrm>
          <a:prstGeom prst="roundRect">
            <a:avLst>
              <a:gd name="adj" fmla="val 6000"/>
            </a:avLst>
          </a:prstGeom>
          <a:solidFill>
            <a:srgbClr val="F8FAFA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2130552" cy="54864"/>
          </a:xfrm>
          <a:prstGeom prst="rect">
            <a:avLst/>
          </a:prstGeom>
          <a:solidFill>
            <a:srgbClr val="A06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1764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A06612"/>
                </a:solidFill>
                <a:latin typeface="Segoe UI"/>
              </a:rPr>
              <a:t>DAYS 1–2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42032"/>
            <a:ext cx="176479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C2B31"/>
                </a:solidFill>
                <a:latin typeface="Georgia"/>
              </a:rPr>
              <a:t>Provision &amp; configure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54680"/>
            <a:ext cx="176479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676E"/>
                </a:solidFill>
                <a:latin typeface="Segoe UI"/>
              </a:rPr>
              <a:t>Module schema, REST services and organisation data set up on the tenancy.</a:t>
            </a:r>
          </a:p>
        </p:txBody>
      </p:sp>
      <p:sp>
        <p:nvSpPr>
          <p:cNvPr id="10" name="Chevron 9"/>
          <p:cNvSpPr/>
          <p:nvPr/>
        </p:nvSpPr>
        <p:spPr>
          <a:xfrm>
            <a:off x="2642615" y="3264408"/>
            <a:ext cx="128016" cy="146304"/>
          </a:xfrm>
          <a:prstGeom prst="chevron">
            <a:avLst/>
          </a:prstGeom>
          <a:solidFill>
            <a:srgbClr val="9AA9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70632" y="2011680"/>
            <a:ext cx="2130552" cy="2651760"/>
          </a:xfrm>
          <a:prstGeom prst="roundRect">
            <a:avLst>
              <a:gd name="adj" fmla="val 6000"/>
            </a:avLst>
          </a:prstGeom>
          <a:solidFill>
            <a:srgbClr val="F8FAFA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70632" y="2011680"/>
            <a:ext cx="2130552" cy="54864"/>
          </a:xfrm>
          <a:prstGeom prst="rect">
            <a:avLst/>
          </a:prstGeom>
          <a:solidFill>
            <a:srgbClr val="A06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2240280"/>
            <a:ext cx="1764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A06612"/>
                </a:solidFill>
                <a:latin typeface="Segoe UI"/>
              </a:rPr>
              <a:t>DAYS 3–5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2542032"/>
            <a:ext cx="176479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C2B31"/>
                </a:solidFill>
                <a:latin typeface="Georgia"/>
              </a:rPr>
              <a:t>Adapt to DCT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2" y="3154680"/>
            <a:ext cx="176479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676E"/>
                </a:solidFill>
                <a:latin typeface="Segoe UI"/>
              </a:rPr>
              <a:t>Approval chains, delegation rules, GL mappings and reference data configured.</a:t>
            </a:r>
          </a:p>
        </p:txBody>
      </p:sp>
      <p:sp>
        <p:nvSpPr>
          <p:cNvPr id="16" name="Chevron 15"/>
          <p:cNvSpPr/>
          <p:nvPr/>
        </p:nvSpPr>
        <p:spPr>
          <a:xfrm>
            <a:off x="4910328" y="3264408"/>
            <a:ext cx="128016" cy="146304"/>
          </a:xfrm>
          <a:prstGeom prst="chevron">
            <a:avLst/>
          </a:prstGeom>
          <a:solidFill>
            <a:srgbClr val="9AA9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38344" y="2011680"/>
            <a:ext cx="2130552" cy="2651760"/>
          </a:xfrm>
          <a:prstGeom prst="roundRect">
            <a:avLst>
              <a:gd name="adj" fmla="val 6000"/>
            </a:avLst>
          </a:prstGeom>
          <a:solidFill>
            <a:srgbClr val="F8FAFA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38344" y="2011680"/>
            <a:ext cx="2130552" cy="54864"/>
          </a:xfrm>
          <a:prstGeom prst="rect">
            <a:avLst/>
          </a:prstGeom>
          <a:solidFill>
            <a:srgbClr val="A06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1224" y="2240280"/>
            <a:ext cx="1764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A06612"/>
                </a:solidFill>
                <a:latin typeface="Segoe UI"/>
              </a:rPr>
              <a:t>DAYS 6–7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2542032"/>
            <a:ext cx="176479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C2B31"/>
                </a:solidFill>
                <a:latin typeface="Georgia"/>
              </a:rPr>
              <a:t>Fusion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54680"/>
            <a:ext cx="176479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676E"/>
                </a:solidFill>
                <a:latin typeface="Segoe UI"/>
              </a:rPr>
              <a:t>Extract feeds and write-back wiring connected and reconciled for the module.</a:t>
            </a:r>
          </a:p>
        </p:txBody>
      </p:sp>
      <p:sp>
        <p:nvSpPr>
          <p:cNvPr id="22" name="Chevron 21"/>
          <p:cNvSpPr/>
          <p:nvPr/>
        </p:nvSpPr>
        <p:spPr>
          <a:xfrm>
            <a:off x="7178040" y="3264408"/>
            <a:ext cx="128016" cy="146304"/>
          </a:xfrm>
          <a:prstGeom prst="chevron">
            <a:avLst/>
          </a:prstGeom>
          <a:solidFill>
            <a:srgbClr val="9AA9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06055" y="2011680"/>
            <a:ext cx="2130552" cy="2651760"/>
          </a:xfrm>
          <a:prstGeom prst="roundRect">
            <a:avLst>
              <a:gd name="adj" fmla="val 6000"/>
            </a:avLst>
          </a:prstGeom>
          <a:solidFill>
            <a:srgbClr val="F8FAFA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06055" y="2011680"/>
            <a:ext cx="2130552" cy="54864"/>
          </a:xfrm>
          <a:prstGeom prst="rect">
            <a:avLst/>
          </a:prstGeom>
          <a:solidFill>
            <a:srgbClr val="A06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88936" y="2240280"/>
            <a:ext cx="1764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A06612"/>
                </a:solidFill>
                <a:latin typeface="Segoe UI"/>
              </a:rPr>
              <a:t>DAYS 8–9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8936" y="2542032"/>
            <a:ext cx="176479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C2B31"/>
                </a:solidFill>
                <a:latin typeface="Georgia"/>
              </a:rPr>
              <a:t>UAT &amp; training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8936" y="3154680"/>
            <a:ext cx="176479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676E"/>
                </a:solidFill>
                <a:latin typeface="Segoe UI"/>
              </a:rPr>
              <a:t>Structured UAT with the business owner; fixes applied; end-user training delivered.</a:t>
            </a:r>
          </a:p>
        </p:txBody>
      </p:sp>
      <p:sp>
        <p:nvSpPr>
          <p:cNvPr id="28" name="Chevron 27"/>
          <p:cNvSpPr/>
          <p:nvPr/>
        </p:nvSpPr>
        <p:spPr>
          <a:xfrm>
            <a:off x="9445752" y="3264408"/>
            <a:ext cx="128016" cy="146304"/>
          </a:xfrm>
          <a:prstGeom prst="chevron">
            <a:avLst/>
          </a:prstGeom>
          <a:solidFill>
            <a:srgbClr val="9AA9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73768" y="2011680"/>
            <a:ext cx="2130552" cy="2651760"/>
          </a:xfrm>
          <a:prstGeom prst="roundRect">
            <a:avLst>
              <a:gd name="adj" fmla="val 6000"/>
            </a:avLst>
          </a:prstGeom>
          <a:solidFill>
            <a:srgbClr val="F8FAFA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73768" y="2011680"/>
            <a:ext cx="2130552" cy="54864"/>
          </a:xfrm>
          <a:prstGeom prst="rect">
            <a:avLst/>
          </a:prstGeom>
          <a:solidFill>
            <a:srgbClr val="A06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56648" y="2240280"/>
            <a:ext cx="1764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A06612"/>
                </a:solidFill>
                <a:latin typeface="Segoe UI"/>
              </a:rPr>
              <a:t>DAY 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56648" y="2542032"/>
            <a:ext cx="176479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C2B31"/>
                </a:solidFill>
                <a:latin typeface="Georgia"/>
              </a:rPr>
              <a:t>Sign-off &amp; go-live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6648" y="3154680"/>
            <a:ext cx="176479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5676E"/>
                </a:solidFill>
                <a:latin typeface="Segoe UI"/>
              </a:rPr>
              <a:t>Sprint review, formal sign-off and production go-live; retrospective feeds the next sprint.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120640"/>
            <a:ext cx="11183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5676E"/>
                </a:solidFill>
                <a:latin typeface="Segoe UI"/>
              </a:rPr>
              <a:t>Every sprint concludes with a working module in production — accepted by its business owner, with users trained and a documented UAT evidence pack.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7E9096"/>
                </a:solidFill>
                <a:latin typeface="Segoe UI"/>
              </a:rPr>
              <a:t>iFinance Implementation Plan  ·  DCT Finance Department  ·  July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7E9096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A06612"/>
                </a:solidFill>
                <a:latin typeface="Georgia"/>
              </a:rPr>
              <a:t>6   </a:t>
            </a:r>
            <a:r>
              <a:rPr sz="2600" b="1">
                <a:solidFill>
                  <a:srgbClr val="1C2B31"/>
                </a:solidFill>
                <a:latin typeface="Georgia"/>
              </a:rPr>
              <a:t>Governance &amp;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83112" cy="18288"/>
          </a:xfrm>
          <a:prstGeom prst="rect">
            <a:avLst/>
          </a:prstGeom>
          <a:solidFill>
            <a:srgbClr val="DC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54864" cy="4206240"/>
          </a:xfrm>
          <a:prstGeom prst="rect">
            <a:avLst/>
          </a:prstGeom>
          <a:solidFill>
            <a:srgbClr val="0F52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106984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>
                <a:solidFill>
                  <a:srgbClr val="A06612"/>
                </a:solidFill>
                <a:latin typeface="Segoe UI"/>
              </a:rPr>
              <a:t>•  </a:t>
            </a:r>
            <a:r>
              <a:rPr sz="1500" b="1">
                <a:solidFill>
                  <a:srgbClr val="1C2B31"/>
                </a:solidFill>
                <a:latin typeface="Segoe UI"/>
              </a:rPr>
              <a:t>Agile governance:  </a:t>
            </a:r>
            <a:r>
              <a:rPr sz="1500" b="0">
                <a:solidFill>
                  <a:srgbClr val="55676E"/>
                </a:solidFill>
                <a:latin typeface="Segoe UI"/>
              </a:rPr>
              <a:t>sprint planning, sprint review and retrospective conducted with the module's business owner in every sprint.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>
                <a:solidFill>
                  <a:srgbClr val="A06612"/>
                </a:solidFill>
                <a:latin typeface="Segoe UI"/>
              </a:rPr>
              <a:t>•  </a:t>
            </a:r>
            <a:r>
              <a:rPr sz="1500" b="1">
                <a:solidFill>
                  <a:srgbClr val="1C2B31"/>
                </a:solidFill>
                <a:latin typeface="Segoe UI"/>
              </a:rPr>
              <a:t>Executive oversight:  </a:t>
            </a:r>
            <a:r>
              <a:rPr sz="1500" b="0">
                <a:solidFill>
                  <a:srgbClr val="55676E"/>
                </a:solidFill>
                <a:latin typeface="Segoe UI"/>
              </a:rPr>
              <a:t>fortnightly steering review with the Finance Director, aligned to sprint boundaries.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>
                <a:solidFill>
                  <a:srgbClr val="A06612"/>
                </a:solidFill>
                <a:latin typeface="Segoe UI"/>
              </a:rPr>
              <a:t>•  </a:t>
            </a:r>
            <a:r>
              <a:rPr sz="1500" b="1">
                <a:solidFill>
                  <a:srgbClr val="1C2B31"/>
                </a:solidFill>
                <a:latin typeface="Segoe UI"/>
              </a:rPr>
              <a:t>Quality gates:  </a:t>
            </a:r>
            <a:r>
              <a:rPr sz="1500" b="0">
                <a:solidFill>
                  <a:srgbClr val="55676E"/>
                </a:solidFill>
                <a:latin typeface="Segoe UI"/>
              </a:rPr>
              <a:t>formal sign-off at every sprint close, supported by a documented UAT evidence pack and delivered training material per module.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>
                <a:solidFill>
                  <a:srgbClr val="A06612"/>
                </a:solidFill>
                <a:latin typeface="Segoe UI"/>
              </a:rPr>
              <a:t>•  </a:t>
            </a:r>
            <a:r>
              <a:rPr sz="1500" b="1">
                <a:solidFill>
                  <a:srgbClr val="1C2B31"/>
                </a:solidFill>
                <a:latin typeface="Segoe UI"/>
              </a:rPr>
              <a:t>Operational discipline:  </a:t>
            </a:r>
            <a:r>
              <a:rPr sz="1500" b="0">
                <a:solidFill>
                  <a:srgbClr val="55676E"/>
                </a:solidFill>
                <a:latin typeface="Segoe UI"/>
              </a:rPr>
              <a:t>versioned deployment runbooks; government security baseline applied at tenancy provisioning; bilingual English / Arabic experience as a standard acceptance criterion.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7E9096"/>
                </a:solidFill>
                <a:latin typeface="Segoe UI"/>
              </a:rPr>
              <a:t>iFinance Implementation Plan  ·  DCT Finance Department  · 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7E9096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A06612"/>
                </a:solidFill>
                <a:latin typeface="Georgia"/>
              </a:rPr>
              <a:t>6   </a:t>
            </a:r>
            <a:r>
              <a:rPr sz="2600" b="1">
                <a:solidFill>
                  <a:srgbClr val="1C2B31"/>
                </a:solidFill>
                <a:latin typeface="Georgia"/>
              </a:rPr>
              <a:t>Risks &amp; Mitigations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83112" cy="18288"/>
          </a:xfrm>
          <a:prstGeom prst="rect">
            <a:avLst/>
          </a:prstGeom>
          <a:solidFill>
            <a:srgbClr val="DC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8311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468880"/>
                <a:gridCol w="5696712"/>
              </a:tblGrid>
              <a:tr h="746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RISK</a:t>
                      </a:r>
                    </a:p>
                  </a:txBody>
                  <a:tcPr marL="73152">
                    <a:solidFill>
                      <a:srgbClr val="0F526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IMPACT</a:t>
                      </a:r>
                    </a:p>
                  </a:txBody>
                  <a:tcPr marL="73152">
                    <a:solidFill>
                      <a:srgbClr val="0F526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MITIGATION</a:t>
                      </a:r>
                    </a:p>
                  </a:txBody>
                  <a:tcPr marL="73152">
                    <a:solidFill>
                      <a:srgbClr val="0F5262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C2B31"/>
                          </a:solidFill>
                          <a:latin typeface="Segoe UI"/>
                        </a:rPr>
                        <a:t>Tenancy procurement lead time</a:t>
                      </a:r>
                    </a:p>
                  </a:txBody>
                  <a:tcPr anchor="ctr"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5676E"/>
                          </a:solidFill>
                          <a:latin typeface="Segoe UI"/>
                        </a:rPr>
                        <a:t>Delays the entire critical path</a:t>
                      </a:r>
                    </a:p>
                  </a:txBody>
                  <a:tcPr anchor="ctr"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5676E"/>
                          </a:solidFill>
                          <a:latin typeface="Segoe UI"/>
                        </a:rPr>
                        <a:t>Raise the Core42 / ADGE procurement immediately upon approval; provisioning completes within one week of contract signature.</a:t>
                      </a:r>
                    </a:p>
                  </a:txBody>
                  <a:tcPr anchor="ctr" marL="73152" marR="45720" marT="27432" marB="27432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C2B31"/>
                          </a:solidFill>
                          <a:latin typeface="Segoe UI"/>
                        </a:rPr>
                        <a:t>Fusion integration access</a:t>
                      </a:r>
                    </a:p>
                  </a:txBody>
                  <a:tcPr anchor="ctr" marL="73152" marR="45720" marT="27432" marB="27432">
                    <a:solidFill>
                      <a:srgbClr val="F8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5676E"/>
                          </a:solidFill>
                          <a:latin typeface="Segoe UI"/>
                        </a:rPr>
                        <a:t>Extract / posting cycles blocked</a:t>
                      </a:r>
                    </a:p>
                  </a:txBody>
                  <a:tcPr anchor="ctr" marL="73152" marR="45720" marT="27432" marB="27432">
                    <a:solidFill>
                      <a:srgbClr val="F8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5676E"/>
                          </a:solidFill>
                          <a:latin typeface="Segoe UI"/>
                        </a:rPr>
                        <a:t>Request reporting-extract and posting access through ADGE at kick-off; a proven interim extract mechanism from the pilot covers any gap.</a:t>
                      </a:r>
                    </a:p>
                  </a:txBody>
                  <a:tcPr anchor="ctr" marL="73152" marR="45720" marT="27432" marB="27432">
                    <a:solidFill>
                      <a:srgbClr val="F8FAFA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C2B31"/>
                          </a:solidFill>
                          <a:latin typeface="Segoe UI"/>
                        </a:rPr>
                        <a:t>Business availability for UAT &amp; training</a:t>
                      </a:r>
                    </a:p>
                  </a:txBody>
                  <a:tcPr anchor="ctr"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5676E"/>
                          </a:solidFill>
                          <a:latin typeface="Segoe UI"/>
                        </a:rPr>
                        <a:t>Sprint sign-off slips</a:t>
                      </a:r>
                    </a:p>
                  </a:txBody>
                  <a:tcPr anchor="ctr"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5676E"/>
                          </a:solidFill>
                          <a:latin typeface="Segoe UI"/>
                        </a:rPr>
                        <a:t>Fixed UAT and training window in the second week of each sprint, with a named business owner confirmed at sprint planning.</a:t>
                      </a:r>
                    </a:p>
                  </a:txBody>
                  <a:tcPr anchor="ctr" marL="73152" marR="45720" marT="27432" marB="27432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C2B31"/>
                          </a:solidFill>
                          <a:latin typeface="Segoe UI"/>
                        </a:rPr>
                        <a:t>New-build scope drift (Service Pricing, Employee Housing)</a:t>
                      </a:r>
                    </a:p>
                  </a:txBody>
                  <a:tcPr anchor="ctr" marL="73152" marR="45720" marT="27432" marB="27432">
                    <a:solidFill>
                      <a:srgbClr val="F8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5676E"/>
                          </a:solidFill>
                          <a:latin typeface="Segoe UI"/>
                        </a:rPr>
                        <a:t>A new-build module overruns its sprint</a:t>
                      </a:r>
                    </a:p>
                  </a:txBody>
                  <a:tcPr anchor="ctr" marL="73152" marR="45720" marT="27432" marB="27432">
                    <a:solidFill>
                      <a:srgbClr val="F8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5676E"/>
                          </a:solidFill>
                          <a:latin typeface="Segoe UI"/>
                        </a:rPr>
                        <a:t>Requirements workshop and scope freeze before Sprint 2 and Sprint 7 respectively; both follow the proven platform pattern.</a:t>
                      </a:r>
                    </a:p>
                  </a:txBody>
                  <a:tcPr anchor="ctr" marL="73152" marR="45720" marT="27432" marB="27432">
                    <a:solidFill>
                      <a:srgbClr val="F8FAFA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C2B31"/>
                          </a:solidFill>
                          <a:latin typeface="Segoe UI"/>
                        </a:rPr>
                        <a:t>Security &amp; residency compliance</a:t>
                      </a:r>
                    </a:p>
                  </a:txBody>
                  <a:tcPr anchor="ctr"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5676E"/>
                          </a:solidFill>
                          <a:latin typeface="Segoe UI"/>
                        </a:rPr>
                        <a:t>Approval or audit findings</a:t>
                      </a:r>
                    </a:p>
                  </a:txBody>
                  <a:tcPr anchor="ctr"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5676E"/>
                          </a:solidFill>
                          <a:latin typeface="Segoe UI"/>
                        </a:rPr>
                        <a:t>All data resident in Core42 Abu Dhabi; single dedicated tenancy; SSO, role-based access and full audit trail; security review at M1.</a:t>
                      </a:r>
                    </a:p>
                  </a:txBody>
                  <a:tcPr anchor="ctr" marL="73152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7E9096"/>
                </a:solidFill>
                <a:latin typeface="Segoe UI"/>
              </a:rPr>
              <a:t>iFinance Implementation Plan  ·  DCT Finance Department  · 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7E9096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A06612"/>
                </a:solidFill>
                <a:latin typeface="Georgia"/>
              </a:rPr>
              <a:t>7   </a:t>
            </a:r>
            <a:r>
              <a:rPr sz="2600" b="1">
                <a:solidFill>
                  <a:srgbClr val="1C2B31"/>
                </a:solidFill>
                <a:latin typeface="Georgia"/>
              </a:rPr>
              <a:t>Requested Approvals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83112" cy="18288"/>
          </a:xfrm>
          <a:prstGeom prst="rect">
            <a:avLst/>
          </a:prstGeom>
          <a:solidFill>
            <a:srgbClr val="DC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1183112" cy="804672"/>
          </a:xfrm>
          <a:prstGeom prst="roundRect">
            <a:avLst>
              <a:gd name="adj" fmla="val 9000"/>
            </a:avLst>
          </a:prstGeom>
          <a:solidFill>
            <a:srgbClr val="F8FAFA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627632"/>
            <a:ext cx="384048" cy="384048"/>
          </a:xfrm>
          <a:prstGeom prst="ellipse">
            <a:avLst/>
          </a:prstGeom>
          <a:solidFill>
            <a:srgbClr val="0F52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36192"/>
            <a:ext cx="10058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5262"/>
                </a:solidFill>
                <a:latin typeface="Segoe UI"/>
              </a:rPr>
              <a:t>Approve the recommended option </a:t>
            </a:r>
            <a:r>
              <a:rPr sz="1250" b="0">
                <a:solidFill>
                  <a:srgbClr val="55676E"/>
                </a:solidFill>
                <a:latin typeface="Segoe UI"/>
              </a:rPr>
              <a:t>and the USD 100,000 implementation budget for the eight-module scope.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50008"/>
            <a:ext cx="11183112" cy="804672"/>
          </a:xfrm>
          <a:prstGeom prst="roundRect">
            <a:avLst>
              <a:gd name="adj" fmla="val 9000"/>
            </a:avLst>
          </a:prstGeom>
          <a:solidFill>
            <a:srgbClr val="F8FAFA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560320"/>
            <a:ext cx="384048" cy="384048"/>
          </a:xfrm>
          <a:prstGeom prst="ellipse">
            <a:avLst/>
          </a:prstGeom>
          <a:solidFill>
            <a:srgbClr val="0F52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468880"/>
            <a:ext cx="10058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5262"/>
                </a:solidFill>
                <a:latin typeface="Segoe UI"/>
              </a:rPr>
              <a:t>Initiate procurement of the Oracle OCI tenancy </a:t>
            </a:r>
            <a:r>
              <a:rPr sz="1250" b="0">
                <a:solidFill>
                  <a:srgbClr val="55676E"/>
                </a:solidFill>
                <a:latin typeface="Segoe UI"/>
              </a:rPr>
              <a:t>in the Core42 data centre (same facility as ADERP) — the single critical-path action; provisioning completes within one week of contract signature.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282696"/>
            <a:ext cx="11183112" cy="804672"/>
          </a:xfrm>
          <a:prstGeom prst="roundRect">
            <a:avLst>
              <a:gd name="adj" fmla="val 9000"/>
            </a:avLst>
          </a:prstGeom>
          <a:solidFill>
            <a:srgbClr val="F8FAFA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3493008"/>
            <a:ext cx="384048" cy="384048"/>
          </a:xfrm>
          <a:prstGeom prst="ellipse">
            <a:avLst/>
          </a:prstGeom>
          <a:solidFill>
            <a:srgbClr val="0F52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401568"/>
            <a:ext cx="10058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5262"/>
                </a:solidFill>
                <a:latin typeface="Segoe UI"/>
              </a:rPr>
              <a:t>Request Fusion integration access </a:t>
            </a:r>
            <a:r>
              <a:rPr sz="1250" b="0">
                <a:solidFill>
                  <a:srgbClr val="55676E"/>
                </a:solidFill>
                <a:latin typeface="Segoe UI"/>
              </a:rPr>
              <a:t>(reporting extracts and transaction posting) through ADGE, in parallel with procurement.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215384"/>
            <a:ext cx="11183112" cy="804672"/>
          </a:xfrm>
          <a:prstGeom prst="roundRect">
            <a:avLst>
              <a:gd name="adj" fmla="val 9000"/>
            </a:avLst>
          </a:prstGeom>
          <a:solidFill>
            <a:srgbClr val="F8FAFA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4425696"/>
            <a:ext cx="384048" cy="384048"/>
          </a:xfrm>
          <a:prstGeom prst="ellipse">
            <a:avLst/>
          </a:prstGeom>
          <a:solidFill>
            <a:srgbClr val="0F52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334256"/>
            <a:ext cx="10058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5262"/>
                </a:solidFill>
                <a:latin typeface="Segoe UI"/>
              </a:rPr>
              <a:t>Nominate one business owner per module </a:t>
            </a:r>
            <a:r>
              <a:rPr sz="1250" b="0">
                <a:solidFill>
                  <a:srgbClr val="55676E"/>
                </a:solidFill>
                <a:latin typeface="Segoe UI"/>
              </a:rPr>
              <a:t>to lead UAT and receive training within each sprint.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148072"/>
            <a:ext cx="11183112" cy="804672"/>
          </a:xfrm>
          <a:prstGeom prst="roundRect">
            <a:avLst>
              <a:gd name="adj" fmla="val 9000"/>
            </a:avLst>
          </a:prstGeom>
          <a:solidFill>
            <a:srgbClr val="F8FAFA"/>
          </a:solidFill>
          <a:ln w="9525">
            <a:solidFill>
              <a:srgbClr val="DC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" y="5358384"/>
            <a:ext cx="384048" cy="384048"/>
          </a:xfrm>
          <a:prstGeom prst="ellipse">
            <a:avLst/>
          </a:prstGeom>
          <a:solidFill>
            <a:srgbClr val="0F52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266944"/>
            <a:ext cx="10058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5262"/>
                </a:solidFill>
                <a:latin typeface="Segoe UI"/>
              </a:rPr>
              <a:t>Confirm kick-off </a:t>
            </a:r>
            <a:r>
              <a:rPr sz="1250" b="0">
                <a:solidFill>
                  <a:srgbClr val="55676E"/>
                </a:solidFill>
                <a:latin typeface="Segoe UI"/>
              </a:rPr>
              <a:t>— Sprint 1 (General Ledger) starts in week 2, with the first go-live in week 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7E9096"/>
                </a:solidFill>
                <a:latin typeface="Segoe UI"/>
              </a:rPr>
              <a:t>iFinance Implementation Plan  ·  DCT Finance Department  ·  July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7E9096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