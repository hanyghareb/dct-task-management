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F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29793"/>
          </a:solidFill>
          <a:ln>
            <a:solidFill>
              <a:srgbClr val="12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41080" y="-457200"/>
            <a:ext cx="4114800" cy="7772400"/>
          </a:xfrm>
          <a:prstGeom prst="roundRect">
            <a:avLst/>
          </a:prstGeom>
          <a:solidFill>
            <a:srgbClr val="16344A"/>
          </a:solidFill>
          <a:ln>
            <a:solidFill>
              <a:srgbClr val="16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35440" y="914400"/>
            <a:ext cx="1005840" cy="1005840"/>
          </a:xfrm>
          <a:prstGeom prst="ellipse">
            <a:avLst/>
          </a:prstGeom>
          <a:solidFill>
            <a:srgbClr val="129793"/>
          </a:solidFill>
          <a:ln>
            <a:solidFill>
              <a:srgbClr val="12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1920240"/>
            <a:ext cx="594360" cy="594360"/>
          </a:xfrm>
          <a:prstGeom prst="ellipse">
            <a:avLst/>
          </a:prstGeom>
          <a:solidFill>
            <a:srgbClr val="F2B134"/>
          </a:solidFill>
          <a:ln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52560" y="3108960"/>
            <a:ext cx="502920" cy="502920"/>
          </a:xfrm>
          <a:prstGeom prst="ellipse">
            <a:avLst/>
          </a:prstGeom>
          <a:solidFill>
            <a:srgbClr val="38BDD0"/>
          </a:solidFill>
          <a:ln>
            <a:solidFill>
              <a:srgbClr val="38B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41280" y="4206240"/>
            <a:ext cx="822960" cy="822960"/>
          </a:xfrm>
          <a:prstGeom prst="ellipse">
            <a:avLst/>
          </a:prstGeom>
          <a:solidFill>
            <a:srgbClr val="EF6A53"/>
          </a:solidFill>
          <a:ln>
            <a:solidFill>
              <a:srgbClr val="EF6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0" y="5303520"/>
            <a:ext cx="502920" cy="502920"/>
          </a:xfrm>
          <a:prstGeom prst="ellipse">
            <a:avLst/>
          </a:prstGeom>
          <a:solidFill>
            <a:srgbClr val="129793"/>
          </a:solidFill>
          <a:ln>
            <a:solidFill>
              <a:srgbClr val="12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051560"/>
            <a:ext cx="71323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38BDD0"/>
                </a:solidFill>
                <a:latin typeface="Aptos"/>
              </a:rPr>
              <a:t>AI FOR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572768"/>
            <a:ext cx="7772400" cy="9875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Everyday Business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761488"/>
            <a:ext cx="69494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Aptos"/>
              </a:rPr>
              <a:t>Practical productivity for leaders and professionals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703320"/>
            <a:ext cx="73152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C6DAE2"/>
                </a:solidFill>
                <a:latin typeface="Aptos"/>
              </a:rPr>
              <a:t>Emails  •  Documents  •  Data  •  Presentations  •  Planning  •  Meetings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937760"/>
            <a:ext cx="2880360" cy="502920"/>
          </a:xfrm>
          <a:prstGeom prst="roundRect">
            <a:avLst/>
          </a:prstGeom>
          <a:solidFill>
            <a:srgbClr val="129793"/>
          </a:solidFill>
          <a:ln>
            <a:solidFill>
              <a:srgbClr val="12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5065776"/>
            <a:ext cx="2670048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NON-TECHNICAL COURSE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989320"/>
            <a:ext cx="4572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A6BFCB"/>
                </a:solidFill>
                <a:latin typeface="Aptos"/>
              </a:rPr>
              <a:t>Course deck • 12–15 hours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29793"/>
          </a:solidFill>
          <a:ln>
            <a:solidFill>
              <a:srgbClr val="12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6858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129793"/>
                </a:solidFill>
                <a:latin typeface="Aptos"/>
              </a:rPr>
              <a:t>COURSE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9728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11F34"/>
                </a:solidFill>
                <a:latin typeface="Aptos"/>
              </a:rPr>
              <a:t>The course promise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34440"/>
            <a:ext cx="107899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tos"/>
              </a:rPr>
              <a:t>Use AI to improve work—not to surrender judgment.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3520440" cy="3154680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82296" cy="3154680"/>
          </a:xfrm>
          <a:prstGeom prst="roundRect">
            <a:avLst/>
          </a:prstGeom>
          <a:solidFill>
            <a:srgbClr val="129793"/>
          </a:solidFill>
          <a:ln>
            <a:solidFill>
              <a:srgbClr val="12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2148840"/>
            <a:ext cx="457200" cy="457200"/>
          </a:xfrm>
          <a:prstGeom prst="roundRect">
            <a:avLst/>
          </a:prstGeom>
          <a:solidFill>
            <a:srgbClr val="129793"/>
          </a:solidFill>
          <a:ln>
            <a:solidFill>
              <a:srgbClr val="12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48840"/>
            <a:ext cx="4572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121408"/>
            <a:ext cx="251460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11F34"/>
                </a:solidFill>
                <a:latin typeface="Aptos"/>
              </a:rPr>
              <a:t>SAVE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578608"/>
            <a:ext cx="3063240" cy="23591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Draft, summarize, classify and organize routine work faster.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920240"/>
            <a:ext cx="3520440" cy="3154680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43400" y="1920240"/>
            <a:ext cx="82296" cy="3154680"/>
          </a:xfrm>
          <a:prstGeom prst="roundRect">
            <a:avLst/>
          </a:prstGeom>
          <a:solidFill>
            <a:srgbClr val="38BDD0"/>
          </a:solidFill>
          <a:ln>
            <a:solidFill>
              <a:srgbClr val="38B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0" y="2148840"/>
            <a:ext cx="457200" cy="457200"/>
          </a:xfrm>
          <a:prstGeom prst="roundRect">
            <a:avLst/>
          </a:prstGeom>
          <a:solidFill>
            <a:srgbClr val="38BDD0"/>
          </a:solidFill>
          <a:ln>
            <a:solidFill>
              <a:srgbClr val="38B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2148840"/>
            <a:ext cx="4572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2121408"/>
            <a:ext cx="2514599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11F34"/>
                </a:solidFill>
                <a:latin typeface="Aptos"/>
              </a:rPr>
              <a:t>IMPROVE QUALITY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2" y="2578608"/>
            <a:ext cx="3063240" cy="23591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Communicate clearly, analyze information and develop stronger first drafts.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920240"/>
            <a:ext cx="3520440" cy="3154680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38160" y="1920240"/>
            <a:ext cx="82296" cy="3154680"/>
          </a:xfrm>
          <a:prstGeom prst="roundRect">
            <a:avLst/>
          </a:prstGeom>
          <a:solidFill>
            <a:srgbClr val="F2B134"/>
          </a:solidFill>
          <a:ln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66760" y="2148840"/>
            <a:ext cx="457200" cy="457200"/>
          </a:xfrm>
          <a:prstGeom prst="roundRect">
            <a:avLst/>
          </a:prstGeom>
          <a:solidFill>
            <a:srgbClr val="F2B134"/>
          </a:solidFill>
          <a:ln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2148840"/>
            <a:ext cx="4572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2121408"/>
            <a:ext cx="2514599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11F34"/>
                </a:solidFill>
                <a:latin typeface="Aptos"/>
              </a:rPr>
              <a:t>WORK RESPONSIBLY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578608"/>
            <a:ext cx="3063240" cy="23591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Protect information, verify important outputs and keep people accountable.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715000"/>
            <a:ext cx="106070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111F34"/>
                </a:solidFill>
                <a:latin typeface="Aptos"/>
              </a:rPr>
              <a:t>Designed for executives, managers, team leaders and employees—no coding required.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6446520"/>
            <a:ext cx="59436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Practical • Responsible • Human-led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29793"/>
          </a:solidFill>
          <a:ln>
            <a:solidFill>
              <a:srgbClr val="12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6858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129793"/>
                </a:solidFill>
                <a:latin typeface="Aptos"/>
              </a:rPr>
              <a:t>COURSE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9728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11F34"/>
                </a:solidFill>
                <a:latin typeface="Aptos"/>
              </a:rPr>
              <a:t>What participants will be able to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212080" cy="42976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800">
                <a:solidFill>
                  <a:srgbClr val="1F2D3D"/>
                </a:solidFill>
                <a:latin typeface="Aptos"/>
              </a:defRPr>
            </a:pPr>
            <a:r>
              <a:rPr>
                <a:solidFill>
                  <a:srgbClr val="1F2D3D"/>
                </a:solidFill>
              </a:rPr>
              <a:t>●  Choose the right AI tool for a business task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800">
                <a:solidFill>
                  <a:srgbClr val="1F2D3D"/>
                </a:solidFill>
                <a:latin typeface="Aptos"/>
              </a:defRPr>
            </a:pPr>
            <a:r>
              <a:rPr>
                <a:solidFill>
                  <a:srgbClr val="1F2D3D"/>
                </a:solidFill>
              </a:rPr>
              <a:t>●  Write clear, reusable prompts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800">
                <a:solidFill>
                  <a:srgbClr val="1F2D3D"/>
                </a:solidFill>
                <a:latin typeface="Aptos"/>
              </a:defRPr>
            </a:pPr>
            <a:r>
              <a:rPr>
                <a:solidFill>
                  <a:srgbClr val="1F2D3D"/>
                </a:solidFill>
              </a:rPr>
              <a:t>●  Handle email and documents efficiently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800">
                <a:solidFill>
                  <a:srgbClr val="1F2D3D"/>
                </a:solidFill>
                <a:latin typeface="Aptos"/>
              </a:defRPr>
            </a:pPr>
            <a:r>
              <a:rPr>
                <a:solidFill>
                  <a:srgbClr val="1F2D3D"/>
                </a:solidFill>
              </a:rPr>
              <a:t>●  Analyze spreadsheets in natural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91640"/>
            <a:ext cx="5212080" cy="42976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800">
                <a:solidFill>
                  <a:srgbClr val="1F2D3D"/>
                </a:solidFill>
                <a:latin typeface="Aptos"/>
              </a:defRPr>
            </a:pPr>
            <a:r>
              <a:rPr>
                <a:solidFill>
                  <a:srgbClr val="1F2D3D"/>
                </a:solidFill>
              </a:rPr>
              <a:t>●  Create stronger presentations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800">
                <a:solidFill>
                  <a:srgbClr val="1F2D3D"/>
                </a:solidFill>
                <a:latin typeface="Aptos"/>
              </a:defRPr>
            </a:pPr>
            <a:r>
              <a:rPr>
                <a:solidFill>
                  <a:srgbClr val="1F2D3D"/>
                </a:solidFill>
              </a:rPr>
              <a:t>●  Build weekly plans and meeting workflows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800">
                <a:solidFill>
                  <a:srgbClr val="1F2D3D"/>
                </a:solidFill>
                <a:latin typeface="Aptos"/>
              </a:defRPr>
            </a:pPr>
            <a:r>
              <a:rPr>
                <a:solidFill>
                  <a:srgbClr val="1F2D3D"/>
                </a:solidFill>
              </a:rPr>
              <a:t>●  Research and verify information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800">
                <a:solidFill>
                  <a:srgbClr val="1F2D3D"/>
                </a:solidFill>
                <a:latin typeface="Aptos"/>
              </a:defRPr>
            </a:pPr>
            <a:r>
              <a:rPr>
                <a:solidFill>
                  <a:srgbClr val="1F2D3D"/>
                </a:solidFill>
              </a:rPr>
              <a:t>●  Use AI safely within company policy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715000"/>
            <a:ext cx="10972800" cy="475488"/>
          </a:xfrm>
          <a:prstGeom prst="roundRect">
            <a:avLst/>
          </a:prstGeom>
          <a:solidFill>
            <a:srgbClr val="E1F1F2"/>
          </a:solidFill>
          <a:ln>
            <a:solidFill>
              <a:srgbClr val="E1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815584"/>
            <a:ext cx="106070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29793"/>
                </a:solidFill>
                <a:latin typeface="Aptos"/>
              </a:rPr>
              <a:t>Outcome: a repeatable AI-assisted workflow for each participant’s real job.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446520"/>
            <a:ext cx="59436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Practical • Responsible • Human-led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29793"/>
          </a:solidFill>
          <a:ln>
            <a:solidFill>
              <a:srgbClr val="12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6858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129793"/>
                </a:solidFill>
                <a:latin typeface="Aptos"/>
              </a:rPr>
              <a:t>COURSE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9728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11F34"/>
                </a:solidFill>
                <a:latin typeface="Aptos"/>
              </a:rPr>
              <a:t>Recommended learning format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34440"/>
            <a:ext cx="107899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tos"/>
              </a:rPr>
              <a:t>12–15 hours • flexible delivery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28800"/>
            <a:ext cx="2514600" cy="2926080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828800"/>
            <a:ext cx="2514600" cy="146304"/>
          </a:xfrm>
          <a:prstGeom prst="roundRect">
            <a:avLst/>
          </a:prstGeom>
          <a:solidFill>
            <a:srgbClr val="129793"/>
          </a:solidFill>
          <a:ln>
            <a:solidFill>
              <a:srgbClr val="12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67712"/>
            <a:ext cx="214884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3000" b="1">
                <a:solidFill>
                  <a:srgbClr val="129793"/>
                </a:solidFill>
                <a:latin typeface="Aptos"/>
              </a:rPr>
              <a:t>20%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63240"/>
            <a:ext cx="20574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111F34"/>
                </a:solidFill>
                <a:latin typeface="Aptos"/>
              </a:rPr>
              <a:t>EXPLAIN
Concepts in plain language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828800"/>
            <a:ext cx="2514600" cy="2926080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74720" y="1828800"/>
            <a:ext cx="2514600" cy="146304"/>
          </a:xfrm>
          <a:prstGeom prst="roundRect">
            <a:avLst/>
          </a:prstGeom>
          <a:solidFill>
            <a:srgbClr val="38BDD0"/>
          </a:solidFill>
          <a:ln>
            <a:solidFill>
              <a:srgbClr val="38B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2267712"/>
            <a:ext cx="214884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3000" b="1">
                <a:solidFill>
                  <a:srgbClr val="38BDD0"/>
                </a:solidFill>
                <a:latin typeface="Aptos"/>
              </a:rPr>
              <a:t>30%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063240"/>
            <a:ext cx="20574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111F34"/>
                </a:solidFill>
                <a:latin typeface="Aptos"/>
              </a:rPr>
              <a:t>DEMONSTRATE
Real business workflows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828800"/>
            <a:ext cx="2514600" cy="2926080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55080" y="1828800"/>
            <a:ext cx="2514600" cy="146304"/>
          </a:xfrm>
          <a:prstGeom prst="roundRect">
            <a:avLst/>
          </a:prstGeom>
          <a:solidFill>
            <a:srgbClr val="F2B134"/>
          </a:solidFill>
          <a:ln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2267712"/>
            <a:ext cx="214884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3000" b="1">
                <a:solidFill>
                  <a:srgbClr val="F2B134"/>
                </a:solidFill>
                <a:latin typeface="Aptos"/>
              </a:rPr>
              <a:t>40%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063240"/>
            <a:ext cx="20574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111F34"/>
                </a:solidFill>
                <a:latin typeface="Aptos"/>
              </a:rPr>
              <a:t>PRACTISE
Guided hands-on tasks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1828800"/>
            <a:ext cx="2514600" cy="2926080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235440" y="1828800"/>
            <a:ext cx="2514600" cy="146304"/>
          </a:xfrm>
          <a:prstGeom prst="roundRect">
            <a:avLst/>
          </a:prstGeom>
          <a:solidFill>
            <a:srgbClr val="EF6A53"/>
          </a:solidFill>
          <a:ln>
            <a:solidFill>
              <a:srgbClr val="EF6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19" y="2267712"/>
            <a:ext cx="214884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3000" b="1">
                <a:solidFill>
                  <a:srgbClr val="EF6A53"/>
                </a:solidFill>
                <a:latin typeface="Aptos"/>
              </a:rPr>
              <a:t>10%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64040" y="3063240"/>
            <a:ext cx="20574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111F34"/>
                </a:solidFill>
                <a:latin typeface="Aptos"/>
              </a:rPr>
              <a:t>REVIEW
Knowledge checks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349240"/>
            <a:ext cx="107899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  <a:latin typeface="Aptos"/>
              </a:rPr>
              <a:t>Delivery options: 6 weekly sessions  •  10 self-paced modules  •  2-day workshop  •  4-hour executive edition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6446520"/>
            <a:ext cx="59436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Practical • Responsible • Human-led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29793"/>
          </a:solidFill>
          <a:ln>
            <a:solidFill>
              <a:srgbClr val="12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6858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129793"/>
                </a:solidFill>
                <a:latin typeface="Aptos"/>
              </a:rPr>
              <a:t>COURSE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9728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11F34"/>
                </a:solidFill>
                <a:latin typeface="Aptos"/>
              </a:rPr>
              <a:t>Ten modules—from curiosity to capability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45920"/>
            <a:ext cx="2011680" cy="1481328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792224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29793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231136"/>
            <a:ext cx="1682496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11F34"/>
                </a:solidFill>
                <a:latin typeface="Aptos"/>
              </a:rPr>
              <a:t>AI at 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98648" y="1645920"/>
            <a:ext cx="2011680" cy="1481328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40" y="1792224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29793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231136"/>
            <a:ext cx="1682496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11F34"/>
                </a:solidFill>
                <a:latin typeface="Aptos"/>
              </a:rPr>
              <a:t>Prompting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02936" y="1645920"/>
            <a:ext cx="2011680" cy="1481328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67528" y="1792224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29793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67528" y="2231136"/>
            <a:ext cx="1682496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11F34"/>
                </a:solidFill>
                <a:latin typeface="Aptos"/>
              </a:rPr>
              <a:t>Email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07224" y="1645920"/>
            <a:ext cx="2011680" cy="1481328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71816" y="1792224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29793"/>
                </a:solidFill>
                <a:latin typeface="Aptos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71816" y="2231136"/>
            <a:ext cx="1682496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11F34"/>
                </a:solidFill>
                <a:latin typeface="Aptos"/>
              </a:rPr>
              <a:t>Documents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11512" y="1645920"/>
            <a:ext cx="2011680" cy="1481328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76104" y="1792224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29793"/>
                </a:solidFill>
                <a:latin typeface="Aptos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76104" y="2231136"/>
            <a:ext cx="1682496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11F34"/>
                </a:solidFill>
                <a:latin typeface="Aptos"/>
              </a:rPr>
              <a:t>Data &amp; Excel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703320"/>
            <a:ext cx="2011680" cy="1481328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" y="3849624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29793"/>
                </a:solidFill>
                <a:latin typeface="Aptos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4288536"/>
            <a:ext cx="1682496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11F34"/>
                </a:solidFill>
                <a:latin typeface="Aptos"/>
              </a:rPr>
              <a:t>Presentations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98648" y="3703320"/>
            <a:ext cx="2011680" cy="1481328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63240" y="3849624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29793"/>
                </a:solidFill>
                <a:latin typeface="Aptos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63240" y="4288536"/>
            <a:ext cx="1682496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11F34"/>
                </a:solidFill>
                <a:latin typeface="Aptos"/>
              </a:rPr>
              <a:t>Weekly planning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02936" y="3703320"/>
            <a:ext cx="2011680" cy="1481328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67528" y="3849624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29793"/>
                </a:solidFill>
                <a:latin typeface="Aptos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67528" y="4288536"/>
            <a:ext cx="1682496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11F34"/>
                </a:solidFill>
                <a:latin typeface="Aptos"/>
              </a:rPr>
              <a:t>Meetings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07224" y="3703320"/>
            <a:ext cx="2011680" cy="1481328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71816" y="3849624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29793"/>
                </a:solidFill>
                <a:latin typeface="Aptos"/>
              </a:rP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71816" y="4288536"/>
            <a:ext cx="1682496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11F34"/>
                </a:solidFill>
                <a:latin typeface="Aptos"/>
              </a:rPr>
              <a:t>Business roles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811512" y="3703320"/>
            <a:ext cx="2011680" cy="1481328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76104" y="3849624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29793"/>
                </a:solidFill>
                <a:latin typeface="Aptos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76104" y="4288536"/>
            <a:ext cx="1682496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11F34"/>
                </a:solidFill>
                <a:latin typeface="Aptos"/>
              </a:rPr>
              <a:t>Responsible AI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0" y="5715000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CAPSTONE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663440" y="5596128"/>
            <a:ext cx="1645920" cy="502920"/>
          </a:xfrm>
          <a:prstGeom prst="roundRect">
            <a:avLst/>
          </a:prstGeom>
          <a:solidFill>
            <a:srgbClr val="129793"/>
          </a:solidFill>
          <a:ln>
            <a:solidFill>
              <a:srgbClr val="12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46320" y="5724144"/>
            <a:ext cx="12801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CAPSTONE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669280"/>
            <a:ext cx="3200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11F34"/>
                </a:solidFill>
                <a:latin typeface="Aptos"/>
              </a:rPr>
              <a:t>Redesign one real workflow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0352" y="6446520"/>
            <a:ext cx="59436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Practical • Responsible • Human-led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29793"/>
          </a:solidFill>
          <a:ln>
            <a:solidFill>
              <a:srgbClr val="12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6858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129793"/>
                </a:solidFill>
                <a:latin typeface="Aptos"/>
              </a:rPr>
              <a:t>MODULE 1 • AI AT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9728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11F34"/>
                </a:solidFill>
                <a:latin typeface="Aptos"/>
              </a:rPr>
              <a:t>Know where AI helps—and where it fails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5303520" cy="4297680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82296" cy="4297680"/>
          </a:xfrm>
          <a:prstGeom prst="roundRect">
            <a:avLst/>
          </a:prstGeom>
          <a:solidFill>
            <a:srgbClr val="129793"/>
          </a:solidFill>
          <a:ln>
            <a:solidFill>
              <a:srgbClr val="12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801368"/>
            <a:ext cx="4864607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11F34"/>
                </a:solidFill>
                <a:latin typeface="Aptos"/>
              </a:rPr>
              <a:t>AI IS STRONG 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258568"/>
            <a:ext cx="4846320" cy="35021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Drafting and rewriting
Summarizing and classifying
Comparing options
Brainstorming and structuring
Analyzing structured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00200"/>
            <a:ext cx="5303520" cy="4297680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1600200"/>
            <a:ext cx="82296" cy="4297680"/>
          </a:xfrm>
          <a:prstGeom prst="roundRect">
            <a:avLst/>
          </a:prstGeom>
          <a:solidFill>
            <a:srgbClr val="EF6A53"/>
          </a:solidFill>
          <a:ln>
            <a:solidFill>
              <a:srgbClr val="EF6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1801368"/>
            <a:ext cx="4864607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11F34"/>
                </a:solidFill>
                <a:latin typeface="Aptos"/>
              </a:rPr>
              <a:t>AI NEEDS HUMAN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2258568"/>
            <a:ext cx="4846320" cy="35021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Factual accuracy
Missing business context
High-stakes decisions
Current or authoritative information
Ethical and legal accountability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446520"/>
            <a:ext cx="59436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Practical • Responsible • Human-led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29793"/>
          </a:solidFill>
          <a:ln>
            <a:solidFill>
              <a:srgbClr val="12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6858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129793"/>
                </a:solidFill>
                <a:latin typeface="Aptos"/>
              </a:rPr>
              <a:t>MODULE 2 • PROMPTING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9728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11F34"/>
                </a:solidFill>
                <a:latin typeface="Aptos"/>
              </a:rPr>
              <a:t>CRAFT a better business prompt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34440"/>
            <a:ext cx="107899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tos"/>
              </a:rPr>
              <a:t>Five ingredients turn a vague request into usable work.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74519"/>
            <a:ext cx="2057400" cy="3108960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15568" y="2148840"/>
            <a:ext cx="731520" cy="731520"/>
          </a:xfrm>
          <a:prstGeom prst="ellipse">
            <a:avLst/>
          </a:prstGeom>
          <a:solidFill>
            <a:srgbClr val="129793"/>
          </a:solidFill>
          <a:ln>
            <a:solidFill>
              <a:srgbClr val="12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148840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182112"/>
            <a:ext cx="1737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111F34"/>
                </a:solidFill>
                <a:latin typeface="Aptos"/>
              </a:rPr>
              <a:t>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703320"/>
            <a:ext cx="1664208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50" b="0">
                <a:solidFill>
                  <a:srgbClr val="64748B"/>
                </a:solidFill>
                <a:latin typeface="Aptos"/>
              </a:rPr>
              <a:t>What is the situation?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98064" y="1874519"/>
            <a:ext cx="2057400" cy="3108960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56432" y="2148840"/>
            <a:ext cx="731520" cy="731520"/>
          </a:xfrm>
          <a:prstGeom prst="ellipse">
            <a:avLst/>
          </a:prstGeom>
          <a:solidFill>
            <a:srgbClr val="38BDD0"/>
          </a:solidFill>
          <a:ln>
            <a:solidFill>
              <a:srgbClr val="38B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56432" y="2148840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"/>
              </a:rPr>
              <a:t>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62656" y="3182112"/>
            <a:ext cx="1737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111F34"/>
                </a:solidFill>
                <a:latin typeface="Aptos"/>
              </a:rPr>
              <a:t>ROLE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9232" y="3703320"/>
            <a:ext cx="1664208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50" b="0">
                <a:solidFill>
                  <a:srgbClr val="64748B"/>
                </a:solidFill>
                <a:latin typeface="Aptos"/>
              </a:rPr>
              <a:t>What expertise is useful?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38928" y="1874519"/>
            <a:ext cx="2057400" cy="3108960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97296" y="2148840"/>
            <a:ext cx="731520" cy="731520"/>
          </a:xfrm>
          <a:prstGeom prst="ellipse">
            <a:avLst/>
          </a:prstGeom>
          <a:solidFill>
            <a:srgbClr val="F2B134"/>
          </a:solidFill>
          <a:ln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97296" y="2148840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3182112"/>
            <a:ext cx="1737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111F34"/>
                </a:solidFill>
                <a:latin typeface="Aptos"/>
              </a:rPr>
              <a:t>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0096" y="3703320"/>
            <a:ext cx="1664208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50" b="0">
                <a:solidFill>
                  <a:srgbClr val="64748B"/>
                </a:solidFill>
                <a:latin typeface="Aptos"/>
              </a:rPr>
              <a:t>What must AI do?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79792" y="1874519"/>
            <a:ext cx="2057400" cy="3108960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138160" y="2148840"/>
            <a:ext cx="731520" cy="731520"/>
          </a:xfrm>
          <a:prstGeom prst="ellipse">
            <a:avLst/>
          </a:prstGeom>
          <a:solidFill>
            <a:srgbClr val="EF6A53"/>
          </a:solidFill>
          <a:ln>
            <a:solidFill>
              <a:srgbClr val="EF6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0" y="2148840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"/>
              </a:rPr>
              <a:t>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44383" y="3182112"/>
            <a:ext cx="1737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111F34"/>
                </a:solidFill>
                <a:latin typeface="Aptos"/>
              </a:rPr>
              <a:t>FORMAT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3703320"/>
            <a:ext cx="1664208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50" b="0">
                <a:solidFill>
                  <a:srgbClr val="64748B"/>
                </a:solidFill>
                <a:latin typeface="Aptos"/>
              </a:rPr>
              <a:t>How should it respond?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20656" y="1874519"/>
            <a:ext cx="2057400" cy="3108960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479024" y="2148840"/>
            <a:ext cx="731520" cy="731520"/>
          </a:xfrm>
          <a:prstGeom prst="ellipse">
            <a:avLst/>
          </a:prstGeom>
          <a:solidFill>
            <a:srgbClr val="129793"/>
          </a:solidFill>
          <a:ln>
            <a:solidFill>
              <a:srgbClr val="12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79024" y="2148840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"/>
              </a:rPr>
              <a:t>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85248" y="3182112"/>
            <a:ext cx="1737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111F34"/>
                </a:solidFill>
                <a:latin typeface="Aptos"/>
              </a:rPr>
              <a:t>TESTS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21824" y="3703320"/>
            <a:ext cx="1664208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50" b="0">
                <a:solidFill>
                  <a:srgbClr val="64748B"/>
                </a:solidFill>
                <a:latin typeface="Aptos"/>
              </a:rPr>
              <a:t>What must be true?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5440680"/>
            <a:ext cx="10789920" cy="566928"/>
          </a:xfrm>
          <a:prstGeom prst="roundRect">
            <a:avLst/>
          </a:prstGeom>
          <a:solidFill>
            <a:srgbClr val="E1F1F2"/>
          </a:solidFill>
          <a:ln>
            <a:solidFill>
              <a:srgbClr val="E1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577840"/>
            <a:ext cx="103327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29793"/>
                </a:solidFill>
                <a:latin typeface="Aptos"/>
              </a:rPr>
              <a:t>Tip: ask AI to identify missing information before it writes the final answer.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" y="6446520"/>
            <a:ext cx="59436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Practical • Responsible • Human-led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29793"/>
          </a:solidFill>
          <a:ln>
            <a:solidFill>
              <a:srgbClr val="12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6858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129793"/>
                </a:solidFill>
                <a:latin typeface="Aptos"/>
              </a:rPr>
              <a:t>MODULE 2 • PROMPTING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9728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11F34"/>
                </a:solidFill>
                <a:latin typeface="Aptos"/>
              </a:rPr>
              <a:t>From vague request to reliable instruction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72768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EF6A53"/>
                </a:solidFill>
                <a:latin typeface="Aptos"/>
              </a:rPr>
              <a:t>WEAK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01952"/>
            <a:ext cx="3657600" cy="1143000"/>
          </a:xfrm>
          <a:prstGeom prst="roundRect">
            <a:avLst/>
          </a:prstGeom>
          <a:solidFill>
            <a:srgbClr val="FDEEEB"/>
          </a:solidFill>
          <a:ln>
            <a:solidFill>
              <a:srgbClr val="F8C8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58568"/>
            <a:ext cx="3200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111F34"/>
                </a:solidFill>
                <a:latin typeface="Aptos"/>
              </a:rPr>
              <a:t>“Summarize this meeting.”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1572768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793"/>
                </a:solidFill>
                <a:latin typeface="Aptos"/>
              </a:rPr>
              <a:t>CRAFTED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901952"/>
            <a:ext cx="6903720" cy="3218688"/>
          </a:xfrm>
          <a:prstGeom prst="roundRect">
            <a:avLst/>
          </a:prstGeom>
          <a:solidFill>
            <a:srgbClr val="E1F1F2"/>
          </a:solidFill>
          <a:ln>
            <a:solidFill>
              <a:srgbClr val="B4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2212848"/>
            <a:ext cx="6272784" cy="2423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1F2D3D"/>
                </a:solidFill>
                <a:latin typeface="Aptos"/>
              </a:rPr>
              <a:t>You are an executive assistant. Using only the meeting notes provided, prepare a concise management summary. Include decisions, action items, owners, deadlines and unresolved issues. Present actions in a table. Clearly mark missing owners or dates; do not invent them.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886200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F2B134"/>
                </a:solidFill>
                <a:latin typeface="Aptos"/>
              </a:rPr>
              <a:t>PRACTICE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297680"/>
            <a:ext cx="338328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111F34"/>
                </a:solidFill>
                <a:latin typeface="Aptos"/>
              </a:rPr>
              <a:t>Rewrite three weak prompts using CRAFT.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446520"/>
            <a:ext cx="59436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Practical • Responsible • Human-led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29793"/>
          </a:solidFill>
          <a:ln>
            <a:solidFill>
              <a:srgbClr val="12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6858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129793"/>
                </a:solidFill>
                <a:latin typeface="Aptos"/>
              </a:rPr>
              <a:t>MODULE 3 • EMAIL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9728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11F34"/>
                </a:solidFill>
                <a:latin typeface="Aptos"/>
              </a:rPr>
              <a:t>Turn the inbox into decisions and actions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3429000" cy="1664208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82296" cy="1664208"/>
          </a:xfrm>
          <a:prstGeom prst="roundRect">
            <a:avLst/>
          </a:prstGeom>
          <a:solidFill>
            <a:srgbClr val="129793"/>
          </a:solidFill>
          <a:ln>
            <a:solidFill>
              <a:srgbClr val="12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801368"/>
            <a:ext cx="2990087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11F34"/>
                </a:solidFill>
                <a:latin typeface="Aptos"/>
              </a:rPr>
              <a:t>SUMMARIZE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25856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Long threads → five key points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1600200"/>
            <a:ext cx="3429000" cy="1664208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16552" y="1600200"/>
            <a:ext cx="82296" cy="1664208"/>
          </a:xfrm>
          <a:prstGeom prst="roundRect">
            <a:avLst/>
          </a:prstGeom>
          <a:solidFill>
            <a:srgbClr val="38BDD0"/>
          </a:solidFill>
          <a:ln>
            <a:solidFill>
              <a:srgbClr val="38B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72584" y="1801368"/>
            <a:ext cx="2990087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11F34"/>
                </a:solidFill>
                <a:latin typeface="Aptos"/>
              </a:rPr>
              <a:t>DRAFT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2584" y="225856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New messages and replies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8744" y="1600200"/>
            <a:ext cx="3429000" cy="1664208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38744" y="1600200"/>
            <a:ext cx="82296" cy="1664208"/>
          </a:xfrm>
          <a:prstGeom prst="roundRect">
            <a:avLst/>
          </a:prstGeom>
          <a:solidFill>
            <a:srgbClr val="F2B134"/>
          </a:solidFill>
          <a:ln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94776" y="1801368"/>
            <a:ext cx="29900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11F34"/>
                </a:solidFill>
                <a:latin typeface="Aptos"/>
              </a:rPr>
              <a:t>ADAPT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94776" y="225856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Formal, friendly, firm or diplomatic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630168"/>
            <a:ext cx="3429000" cy="1664208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4360" y="3630168"/>
            <a:ext cx="82296" cy="1664208"/>
          </a:xfrm>
          <a:prstGeom prst="roundRect">
            <a:avLst/>
          </a:prstGeom>
          <a:solidFill>
            <a:srgbClr val="EF6A53"/>
          </a:solidFill>
          <a:ln>
            <a:solidFill>
              <a:srgbClr val="EF6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3831336"/>
            <a:ext cx="2990087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11F34"/>
                </a:solidFill>
                <a:latin typeface="Aptos"/>
              </a:rPr>
              <a:t>EXTRACT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4288536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Decisions, owners and deadlines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16552" y="3630168"/>
            <a:ext cx="3429000" cy="1664208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416552" y="3630168"/>
            <a:ext cx="82296" cy="1664208"/>
          </a:xfrm>
          <a:prstGeom prst="roundRect">
            <a:avLst/>
          </a:prstGeom>
          <a:solidFill>
            <a:srgbClr val="129793"/>
          </a:solidFill>
          <a:ln>
            <a:solidFill>
              <a:srgbClr val="12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72584" y="3831336"/>
            <a:ext cx="2990087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11F34"/>
                </a:solidFill>
                <a:latin typeface="Aptos"/>
              </a:rPr>
              <a:t>FOLLOW 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72584" y="4288536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Reminders and meeting invitations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38744" y="3630168"/>
            <a:ext cx="3429000" cy="1664208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238744" y="3630168"/>
            <a:ext cx="82296" cy="1664208"/>
          </a:xfrm>
          <a:prstGeom prst="roundRect">
            <a:avLst/>
          </a:prstGeom>
          <a:solidFill>
            <a:srgbClr val="38BDD0"/>
          </a:solidFill>
          <a:ln>
            <a:solidFill>
              <a:srgbClr val="38B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94776" y="3831336"/>
            <a:ext cx="29900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11F34"/>
                </a:solidFill>
                <a:latin typeface="Aptos"/>
              </a:rPr>
              <a:t>CHECK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94776" y="4288536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Facts, recipients, tone and attachments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" y="6446520"/>
            <a:ext cx="59436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Practical • Responsible • Human-led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29793"/>
          </a:solidFill>
          <a:ln>
            <a:solidFill>
              <a:srgbClr val="12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6858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129793"/>
                </a:solidFill>
                <a:latin typeface="Aptos"/>
              </a:rPr>
              <a:t>MODULE 3 • EMAIL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9728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11F34"/>
                </a:solidFill>
                <a:latin typeface="Aptos"/>
              </a:rPr>
              <a:t>Lab: tame a 15-message project thread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508760"/>
            <a:ext cx="530352" cy="530352"/>
          </a:xfrm>
          <a:prstGeom prst="roundRect">
            <a:avLst/>
          </a:prstGeom>
          <a:solidFill>
            <a:srgbClr val="129793"/>
          </a:solidFill>
          <a:ln>
            <a:solidFill>
              <a:srgbClr val="12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508760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1600200"/>
            <a:ext cx="5852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11F34"/>
                </a:solidFill>
                <a:latin typeface="Aptos"/>
              </a:rPr>
              <a:t>Produce a five-line summary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331720"/>
            <a:ext cx="530352" cy="530352"/>
          </a:xfrm>
          <a:prstGeom prst="roundRect">
            <a:avLst/>
          </a:prstGeom>
          <a:solidFill>
            <a:srgbClr val="129793"/>
          </a:solidFill>
          <a:ln>
            <a:solidFill>
              <a:srgbClr val="12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331720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2423160"/>
            <a:ext cx="5852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11F34"/>
                </a:solidFill>
                <a:latin typeface="Aptos"/>
              </a:rPr>
              <a:t>Extract decisions and commitments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154680"/>
            <a:ext cx="530352" cy="530352"/>
          </a:xfrm>
          <a:prstGeom prst="roundRect">
            <a:avLst/>
          </a:prstGeom>
          <a:solidFill>
            <a:srgbClr val="129793"/>
          </a:solidFill>
          <a:ln>
            <a:solidFill>
              <a:srgbClr val="12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3154680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3246120"/>
            <a:ext cx="5852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11F34"/>
                </a:solidFill>
                <a:latin typeface="Aptos"/>
              </a:rPr>
              <a:t>Create an owner / action / deadline table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3977639"/>
            <a:ext cx="530352" cy="530352"/>
          </a:xfrm>
          <a:prstGeom prst="roundRect">
            <a:avLst/>
          </a:prstGeom>
          <a:solidFill>
            <a:srgbClr val="129793"/>
          </a:solidFill>
          <a:ln>
            <a:solidFill>
              <a:srgbClr val="12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977639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4069079"/>
            <a:ext cx="5852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11F34"/>
                </a:solidFill>
                <a:latin typeface="Aptos"/>
              </a:rPr>
              <a:t>Draft a concise reply to all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4800600"/>
            <a:ext cx="530352" cy="530352"/>
          </a:xfrm>
          <a:prstGeom prst="roundRect">
            <a:avLst/>
          </a:prstGeom>
          <a:solidFill>
            <a:srgbClr val="F2B134"/>
          </a:solidFill>
          <a:ln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4800600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1328" y="4892040"/>
            <a:ext cx="5852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11F34"/>
                </a:solidFill>
                <a:latin typeface="Aptos"/>
              </a:rPr>
              <a:t>Prepare a calendar invitation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1572768"/>
            <a:ext cx="3520440" cy="4160520"/>
          </a:xfrm>
          <a:prstGeom prst="roundRect">
            <a:avLst/>
          </a:prstGeom>
          <a:solidFill>
            <a:srgbClr val="111F34"/>
          </a:solidFill>
          <a:ln>
            <a:solidFill>
              <a:srgbClr val="111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1920240"/>
            <a:ext cx="2788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38BDD0"/>
                </a:solidFill>
                <a:latin typeface="Aptos"/>
              </a:rPr>
              <a:t>BEFORE SEND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514600"/>
            <a:ext cx="2651760" cy="265176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●  Recipients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●  Names and facts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●  Dates and promises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●  Tone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●  Attachments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●  Confidential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6446520"/>
            <a:ext cx="59436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Practical • Responsible • Human-led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29793"/>
          </a:solidFill>
          <a:ln>
            <a:solidFill>
              <a:srgbClr val="12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6858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129793"/>
                </a:solidFill>
                <a:latin typeface="Aptos"/>
              </a:rPr>
              <a:t>MODULE 4 • DOCUMENTS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9728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11F34"/>
                </a:solidFill>
                <a:latin typeface="Aptos"/>
              </a:rPr>
              <a:t>Move from rough notes to polished documents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874519"/>
            <a:ext cx="1947672" cy="2514600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2212848"/>
            <a:ext cx="167335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129793"/>
                </a:solidFill>
                <a:latin typeface="Aptos"/>
              </a:rPr>
              <a:t>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7" y="2880360"/>
            <a:ext cx="149047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>
                <a:solidFill>
                  <a:srgbClr val="111F34"/>
                </a:solidFill>
                <a:latin typeface="Aptos"/>
              </a:rPr>
              <a:t>Raw ideas
Emails
Transcripts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59152" y="2697480"/>
            <a:ext cx="3200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800" b="1">
                <a:solidFill>
                  <a:srgbClr val="F2B134"/>
                </a:solidFill>
                <a:latin typeface="Aptos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15768" y="1874519"/>
            <a:ext cx="1947672" cy="2514600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2927" y="2212848"/>
            <a:ext cx="167335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129793"/>
                </a:solidFill>
                <a:latin typeface="Aptos"/>
              </a:rPr>
              <a:t>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4368" y="2880360"/>
            <a:ext cx="149047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>
                <a:solidFill>
                  <a:srgbClr val="111F34"/>
                </a:solidFill>
                <a:latin typeface="Aptos"/>
              </a:rPr>
              <a:t>Outline
Audience
Purpose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2697480"/>
            <a:ext cx="3200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800" b="1">
                <a:solidFill>
                  <a:srgbClr val="F2B134"/>
                </a:solidFill>
                <a:latin typeface="Aptos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47488" y="1874519"/>
            <a:ext cx="1947672" cy="2514600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84648" y="2212848"/>
            <a:ext cx="167335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129793"/>
                </a:solidFill>
                <a:latin typeface="Aptos"/>
              </a:rPr>
              <a:t>DRAFT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76088" y="2880360"/>
            <a:ext cx="149047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>
                <a:solidFill>
                  <a:srgbClr val="111F34"/>
                </a:solidFill>
                <a:latin typeface="Aptos"/>
              </a:rPr>
              <a:t>Report
Proposal
Policy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22592" y="2697480"/>
            <a:ext cx="3200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800" b="1">
                <a:solidFill>
                  <a:srgbClr val="F2B134"/>
                </a:solidFill>
                <a:latin typeface="Aptos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79208" y="1874519"/>
            <a:ext cx="1947672" cy="2514600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16368" y="2212848"/>
            <a:ext cx="167335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129793"/>
                </a:solidFill>
                <a:latin typeface="Aptos"/>
              </a:rPr>
              <a:t>REFINE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07808" y="2880360"/>
            <a:ext cx="149047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>
                <a:solidFill>
                  <a:srgbClr val="111F34"/>
                </a:solidFill>
                <a:latin typeface="Aptos"/>
              </a:rPr>
              <a:t>Tone
Clarity
Consistency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54312" y="2697480"/>
            <a:ext cx="3200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800" b="1">
                <a:solidFill>
                  <a:srgbClr val="F2B134"/>
                </a:solidFill>
                <a:latin typeface="Aptos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10928" y="1874519"/>
            <a:ext cx="1947672" cy="2514600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48088" y="2212848"/>
            <a:ext cx="167335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129793"/>
                </a:solidFill>
                <a:latin typeface="Aptos"/>
              </a:rPr>
              <a:t>VERIFY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39528" y="2880360"/>
            <a:ext cx="149047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>
                <a:solidFill>
                  <a:srgbClr val="111F34"/>
                </a:solidFill>
                <a:latin typeface="Aptos"/>
              </a:rPr>
              <a:t>Facts
Obligations
Risks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166360"/>
            <a:ext cx="106984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11F34"/>
                </a:solidFill>
                <a:latin typeface="Aptos"/>
              </a:rPr>
              <a:t>Exercise: one set of notes → executive brief • customer update • staff announcement • action list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6446520"/>
            <a:ext cx="59436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Practical • Responsible • Human-led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29793"/>
          </a:solidFill>
          <a:ln>
            <a:solidFill>
              <a:srgbClr val="12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6858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129793"/>
                </a:solidFill>
                <a:latin typeface="Aptos"/>
              </a:rPr>
              <a:t>MODULE 5 • DATA &amp; EXCEL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9728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11F34"/>
                </a:solidFill>
                <a:latin typeface="Aptos"/>
              </a:rPr>
              <a:t>Ask business questions—not just formula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508760"/>
            <a:ext cx="5230368" cy="987552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" y="1508760"/>
            <a:ext cx="118872" cy="987552"/>
          </a:xfrm>
          <a:prstGeom prst="roundRect">
            <a:avLst/>
          </a:prstGeom>
          <a:solidFill>
            <a:srgbClr val="129793"/>
          </a:solidFill>
          <a:ln>
            <a:solidFill>
              <a:srgbClr val="12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755648"/>
            <a:ext cx="461772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50" b="1">
                <a:solidFill>
                  <a:srgbClr val="111F34"/>
                </a:solidFill>
                <a:latin typeface="Aptos"/>
              </a:rPr>
              <a:t>Is the data complete and consistent?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508760"/>
            <a:ext cx="5230368" cy="987552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45352" y="1508760"/>
            <a:ext cx="118872" cy="987552"/>
          </a:xfrm>
          <a:prstGeom prst="roundRect">
            <a:avLst/>
          </a:prstGeom>
          <a:solidFill>
            <a:srgbClr val="129793"/>
          </a:solidFill>
          <a:ln>
            <a:solidFill>
              <a:srgbClr val="12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1755648"/>
            <a:ext cx="461772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50" b="1">
                <a:solidFill>
                  <a:srgbClr val="111F34"/>
                </a:solidFill>
                <a:latin typeface="Aptos"/>
              </a:rPr>
              <a:t>What changed—and why might it matter?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" y="2834639"/>
            <a:ext cx="5230368" cy="987552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" y="2834639"/>
            <a:ext cx="118872" cy="987552"/>
          </a:xfrm>
          <a:prstGeom prst="roundRect">
            <a:avLst/>
          </a:prstGeom>
          <a:solidFill>
            <a:srgbClr val="38BDD0"/>
          </a:solidFill>
          <a:ln>
            <a:solidFill>
              <a:srgbClr val="38B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3081527"/>
            <a:ext cx="461772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50" b="1">
                <a:solidFill>
                  <a:srgbClr val="111F34"/>
                </a:solidFill>
                <a:latin typeface="Aptos"/>
              </a:rPr>
              <a:t>Where are the exceptions or unusual values?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5352" y="2834639"/>
            <a:ext cx="5230368" cy="987552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45352" y="2834639"/>
            <a:ext cx="118872" cy="987552"/>
          </a:xfrm>
          <a:prstGeom prst="roundRect">
            <a:avLst/>
          </a:prstGeom>
          <a:solidFill>
            <a:srgbClr val="38BDD0"/>
          </a:solidFill>
          <a:ln>
            <a:solidFill>
              <a:srgbClr val="38B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3081527"/>
            <a:ext cx="461772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50" b="1">
                <a:solidFill>
                  <a:srgbClr val="111F34"/>
                </a:solidFill>
                <a:latin typeface="Aptos"/>
              </a:rPr>
              <a:t>How do actual results compare with target?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4160520"/>
            <a:ext cx="5230368" cy="987552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" y="4160520"/>
            <a:ext cx="118872" cy="987552"/>
          </a:xfrm>
          <a:prstGeom prst="roundRect">
            <a:avLst/>
          </a:prstGeom>
          <a:solidFill>
            <a:srgbClr val="F2B134"/>
          </a:solidFill>
          <a:ln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4407408"/>
            <a:ext cx="461772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50" b="1">
                <a:solidFill>
                  <a:srgbClr val="111F34"/>
                </a:solidFill>
                <a:latin typeface="Aptos"/>
              </a:rPr>
              <a:t>Which chart communicates the finding best?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5352" y="4160520"/>
            <a:ext cx="5230368" cy="987552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45352" y="4160520"/>
            <a:ext cx="118872" cy="987552"/>
          </a:xfrm>
          <a:prstGeom prst="roundRect">
            <a:avLst/>
          </a:prstGeom>
          <a:solidFill>
            <a:srgbClr val="F2B134"/>
          </a:solidFill>
          <a:ln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65392" y="4407408"/>
            <a:ext cx="461772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50" b="1">
                <a:solidFill>
                  <a:srgbClr val="111F34"/>
                </a:solidFill>
                <a:latin typeface="Aptos"/>
              </a:rPr>
              <a:t>Can I reproduce the key calculation?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5650992"/>
            <a:ext cx="10744200" cy="457200"/>
          </a:xfrm>
          <a:prstGeom prst="roundRect">
            <a:avLst/>
          </a:prstGeom>
          <a:solidFill>
            <a:srgbClr val="FDEEEB"/>
          </a:solidFill>
          <a:ln>
            <a:solidFill>
              <a:srgbClr val="FDE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760720"/>
            <a:ext cx="103327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EF6A53"/>
                </a:solidFill>
                <a:latin typeface="Aptos"/>
              </a:rPr>
              <a:t>Guardrail: AI can suggest an analysis; the business owner must verify material figures.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6446520"/>
            <a:ext cx="59436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Practical • Responsible • Human-led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29793"/>
          </a:solidFill>
          <a:ln>
            <a:solidFill>
              <a:srgbClr val="12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6858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129793"/>
                </a:solidFill>
                <a:latin typeface="Aptos"/>
              </a:rPr>
              <a:t>MODULE 5 • DATA &amp; EXCEL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9728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11F34"/>
                </a:solidFill>
                <a:latin typeface="Aptos"/>
              </a:rPr>
              <a:t>Lab: turn sales data into management insight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1828800"/>
            <a:ext cx="2057400" cy="3246120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0624" y="1828800"/>
            <a:ext cx="82296" cy="3246120"/>
          </a:xfrm>
          <a:prstGeom prst="roundRect">
            <a:avLst/>
          </a:prstGeom>
          <a:solidFill>
            <a:srgbClr val="129793"/>
          </a:solidFill>
          <a:ln>
            <a:solidFill>
              <a:srgbClr val="12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9224" y="2057400"/>
            <a:ext cx="457200" cy="457200"/>
          </a:xfrm>
          <a:prstGeom prst="roundRect">
            <a:avLst/>
          </a:prstGeom>
          <a:solidFill>
            <a:srgbClr val="129793"/>
          </a:solidFill>
          <a:ln>
            <a:solidFill>
              <a:srgbClr val="12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2057400"/>
            <a:ext cx="4572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3584" y="2029968"/>
            <a:ext cx="105156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11F34"/>
                </a:solidFill>
                <a:latin typeface="Aptos"/>
              </a:rPr>
              <a:t>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2487168"/>
            <a:ext cx="1600200" cy="245059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Missing values, duplicates, types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52344" y="1828800"/>
            <a:ext cx="2057400" cy="3246120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52344" y="1828800"/>
            <a:ext cx="82296" cy="3246120"/>
          </a:xfrm>
          <a:prstGeom prst="roundRect">
            <a:avLst/>
          </a:prstGeom>
          <a:solidFill>
            <a:srgbClr val="38BDD0"/>
          </a:solidFill>
          <a:ln>
            <a:solidFill>
              <a:srgbClr val="38B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980944" y="2057400"/>
            <a:ext cx="457200" cy="457200"/>
          </a:xfrm>
          <a:prstGeom prst="roundRect">
            <a:avLst/>
          </a:prstGeom>
          <a:solidFill>
            <a:srgbClr val="38BDD0"/>
          </a:solidFill>
          <a:ln>
            <a:solidFill>
              <a:srgbClr val="38B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80944" y="2057400"/>
            <a:ext cx="4572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75303" y="2029968"/>
            <a:ext cx="105156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11F34"/>
                </a:solidFill>
                <a:latin typeface="Aptos"/>
              </a:rPr>
              <a:t>COMPARE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08376" y="2487168"/>
            <a:ext cx="1600200" cy="245059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Month, region and category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84064" y="1828800"/>
            <a:ext cx="2057400" cy="3246120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84064" y="1828800"/>
            <a:ext cx="82296" cy="3246120"/>
          </a:xfrm>
          <a:prstGeom prst="roundRect">
            <a:avLst/>
          </a:prstGeom>
          <a:solidFill>
            <a:srgbClr val="F2B134"/>
          </a:solidFill>
          <a:ln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312664" y="2057400"/>
            <a:ext cx="457200" cy="457200"/>
          </a:xfrm>
          <a:prstGeom prst="roundRect">
            <a:avLst/>
          </a:prstGeom>
          <a:solidFill>
            <a:srgbClr val="F2B134"/>
          </a:solidFill>
          <a:ln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12664" y="2057400"/>
            <a:ext cx="4572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07024" y="2029968"/>
            <a:ext cx="1051559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11F34"/>
                </a:solidFill>
                <a:latin typeface="Aptos"/>
              </a:rPr>
              <a:t>VISUALIZE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0096" y="2487168"/>
            <a:ext cx="1600200" cy="245059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Select and create a clear chart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15783" y="1828800"/>
            <a:ext cx="2057400" cy="3246120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15783" y="1828800"/>
            <a:ext cx="82296" cy="3246120"/>
          </a:xfrm>
          <a:prstGeom prst="roundRect">
            <a:avLst/>
          </a:prstGeom>
          <a:solidFill>
            <a:srgbClr val="EF6A53"/>
          </a:solidFill>
          <a:ln>
            <a:solidFill>
              <a:srgbClr val="EF6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644383" y="2057400"/>
            <a:ext cx="457200" cy="457200"/>
          </a:xfrm>
          <a:prstGeom prst="roundRect">
            <a:avLst/>
          </a:prstGeom>
          <a:solidFill>
            <a:srgbClr val="EF6A53"/>
          </a:solidFill>
          <a:ln>
            <a:solidFill>
              <a:srgbClr val="EF6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44383" y="2057400"/>
            <a:ext cx="4572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38744" y="2029968"/>
            <a:ext cx="1051559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11F34"/>
                </a:solidFill>
                <a:latin typeface="Aptos"/>
              </a:rPr>
              <a:t>EXPLAIN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71815" y="2487168"/>
            <a:ext cx="1600200" cy="245059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Draft five management observations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47504" y="1828800"/>
            <a:ext cx="2057400" cy="3246120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747504" y="1828800"/>
            <a:ext cx="82296" cy="3246120"/>
          </a:xfrm>
          <a:prstGeom prst="roundRect">
            <a:avLst/>
          </a:prstGeom>
          <a:solidFill>
            <a:srgbClr val="129793"/>
          </a:solidFill>
          <a:ln>
            <a:solidFill>
              <a:srgbClr val="12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976104" y="2057400"/>
            <a:ext cx="457200" cy="457200"/>
          </a:xfrm>
          <a:prstGeom prst="roundRect">
            <a:avLst/>
          </a:prstGeom>
          <a:solidFill>
            <a:srgbClr val="129793"/>
          </a:solidFill>
          <a:ln>
            <a:solidFill>
              <a:srgbClr val="12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76104" y="2057400"/>
            <a:ext cx="4572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70464" y="2029968"/>
            <a:ext cx="1051559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11F34"/>
                </a:solidFill>
                <a:latin typeface="Aptos"/>
              </a:rPr>
              <a:t>VERIFY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03536" y="2487168"/>
            <a:ext cx="1600200" cy="245059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Recalculate three critical figures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623560"/>
            <a:ext cx="10515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11F34"/>
                </a:solidFill>
                <a:latin typeface="Aptos"/>
              </a:rPr>
              <a:t>Good analysis distinguishes evidence from interpretation—and correlation from causation.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" y="6446520"/>
            <a:ext cx="59436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Practical • Responsible • Human-led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29793"/>
          </a:solidFill>
          <a:ln>
            <a:solidFill>
              <a:srgbClr val="12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6858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129793"/>
                </a:solidFill>
                <a:latin typeface="Aptos"/>
              </a:rPr>
              <a:t>MODULE 6 • PRESENTATIONS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9728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11F34"/>
                </a:solidFill>
                <a:latin typeface="Aptos"/>
              </a:rPr>
              <a:t>Build a decision story—not a pile of slides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2084831"/>
            <a:ext cx="1389888" cy="960120"/>
          </a:xfrm>
          <a:prstGeom prst="roundRect">
            <a:avLst/>
          </a:prstGeom>
          <a:solidFill>
            <a:srgbClr val="129793"/>
          </a:solidFill>
          <a:ln>
            <a:solidFill>
              <a:srgbClr val="12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95728"/>
            <a:ext cx="12435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SITUATION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73936" y="2304288"/>
            <a:ext cx="2743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64748B"/>
                </a:solidFill>
                <a:latin typeface="Aptos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48256" y="2084831"/>
            <a:ext cx="1389888" cy="960120"/>
          </a:xfrm>
          <a:prstGeom prst="roundRect">
            <a:avLst/>
          </a:prstGeom>
          <a:solidFill>
            <a:srgbClr val="38BDD0"/>
          </a:solidFill>
          <a:ln>
            <a:solidFill>
              <a:srgbClr val="38B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21408" y="2395728"/>
            <a:ext cx="12435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38144" y="2304288"/>
            <a:ext cx="2743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64748B"/>
                </a:solidFill>
                <a:latin typeface="Aptos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12464" y="2084831"/>
            <a:ext cx="1389888" cy="960120"/>
          </a:xfrm>
          <a:prstGeom prst="roundRect">
            <a:avLst/>
          </a:prstGeom>
          <a:solidFill>
            <a:srgbClr val="38BDD0"/>
          </a:solidFill>
          <a:ln>
            <a:solidFill>
              <a:srgbClr val="38B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5616" y="2395728"/>
            <a:ext cx="12435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FINDINGS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02352" y="2304288"/>
            <a:ext cx="2743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64748B"/>
                </a:solidFill>
                <a:latin typeface="Aptos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76672" y="2084831"/>
            <a:ext cx="1389888" cy="960120"/>
          </a:xfrm>
          <a:prstGeom prst="roundRect">
            <a:avLst/>
          </a:prstGeom>
          <a:solidFill>
            <a:srgbClr val="38BDD0"/>
          </a:solidFill>
          <a:ln>
            <a:solidFill>
              <a:srgbClr val="38B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49824" y="2395728"/>
            <a:ext cx="12435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OPTIONS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304288"/>
            <a:ext cx="2743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64748B"/>
                </a:solidFill>
                <a:latin typeface="Aptos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40880" y="2084831"/>
            <a:ext cx="1389888" cy="960120"/>
          </a:xfrm>
          <a:prstGeom prst="roundRect">
            <a:avLst/>
          </a:prstGeom>
          <a:solidFill>
            <a:srgbClr val="F2B134"/>
          </a:solidFill>
          <a:ln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14032" y="2395728"/>
            <a:ext cx="12435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RECOMMENDATION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8" y="2304288"/>
            <a:ext cx="2743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64748B"/>
                </a:solidFill>
                <a:latin typeface="Aptos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05088" y="2084831"/>
            <a:ext cx="1389888" cy="960120"/>
          </a:xfrm>
          <a:prstGeom prst="roundRect">
            <a:avLst/>
          </a:prstGeom>
          <a:solidFill>
            <a:srgbClr val="F2B134"/>
          </a:solidFill>
          <a:ln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2395728"/>
            <a:ext cx="12435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94976" y="2304288"/>
            <a:ext cx="2743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64748B"/>
                </a:solidFill>
                <a:latin typeface="Aptos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369296" y="2084831"/>
            <a:ext cx="1389888" cy="960120"/>
          </a:xfrm>
          <a:prstGeom prst="roundRect">
            <a:avLst/>
          </a:prstGeom>
          <a:solidFill>
            <a:srgbClr val="129793"/>
          </a:solidFill>
          <a:ln>
            <a:solidFill>
              <a:srgbClr val="12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42448" y="2395728"/>
            <a:ext cx="12435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3749039"/>
            <a:ext cx="10241280" cy="173736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F2D3D"/>
                </a:solidFill>
                <a:latin typeface="Aptos"/>
              </a:defRPr>
            </a:pPr>
            <a:r>
              <a:rPr>
                <a:solidFill>
                  <a:srgbClr val="1F2D3D"/>
                </a:solidFill>
              </a:rPr>
              <a:t>●  Conclusion-led slide titles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F2D3D"/>
                </a:solidFill>
                <a:latin typeface="Aptos"/>
              </a:defRPr>
            </a:pPr>
            <a:r>
              <a:rPr>
                <a:solidFill>
                  <a:srgbClr val="1F2D3D"/>
                </a:solidFill>
              </a:rPr>
              <a:t>●  One message per slide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F2D3D"/>
                </a:solidFill>
                <a:latin typeface="Aptos"/>
              </a:defRPr>
            </a:pPr>
            <a:r>
              <a:rPr>
                <a:solidFill>
                  <a:srgbClr val="1F2D3D"/>
                </a:solidFill>
              </a:rPr>
              <a:t>●  Evidence for every important claim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F2D3D"/>
                </a:solidFill>
                <a:latin typeface="Aptos"/>
              </a:defRPr>
            </a:pPr>
            <a:r>
              <a:rPr>
                <a:solidFill>
                  <a:srgbClr val="1F2D3D"/>
                </a:solidFill>
              </a:rPr>
              <a:t>●  Speaker notes for delivery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F2D3D"/>
                </a:solidFill>
                <a:latin typeface="Aptos"/>
              </a:defRPr>
            </a:pPr>
            <a:r>
              <a:rPr>
                <a:solidFill>
                  <a:srgbClr val="1F2D3D"/>
                </a:solidFill>
              </a:rPr>
              <a:t>●  Brand and accessibility checks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6446520"/>
            <a:ext cx="59436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Practical • Responsible • Human-led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29793"/>
          </a:solidFill>
          <a:ln>
            <a:solidFill>
              <a:srgbClr val="12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6858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129793"/>
                </a:solidFill>
                <a:latin typeface="Aptos"/>
              </a:rPr>
              <a:t>MODULE 7 • WEEKLY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9728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11F34"/>
                </a:solidFill>
                <a:latin typeface="Aptos"/>
              </a:rPr>
              <a:t>Convert an overloaded list into a realistic week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2523744" cy="3383280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828800"/>
            <a:ext cx="82296" cy="3383280"/>
          </a:xfrm>
          <a:prstGeom prst="roundRect">
            <a:avLst/>
          </a:prstGeom>
          <a:solidFill>
            <a:srgbClr val="129793"/>
          </a:solidFill>
          <a:ln>
            <a:solidFill>
              <a:srgbClr val="12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057400"/>
            <a:ext cx="457200" cy="457200"/>
          </a:xfrm>
          <a:prstGeom prst="roundRect">
            <a:avLst/>
          </a:prstGeom>
          <a:solidFill>
            <a:srgbClr val="129793"/>
          </a:solidFill>
          <a:ln>
            <a:solidFill>
              <a:srgbClr val="12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57400"/>
            <a:ext cx="4572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029968"/>
            <a:ext cx="151790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11F34"/>
                </a:solidFill>
                <a:latin typeface="Aptos"/>
              </a:rPr>
              <a:t>PRIORITIZE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487168"/>
            <a:ext cx="2066543" cy="25877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Choose three weekly outcomes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47288" y="1828800"/>
            <a:ext cx="2523744" cy="3383280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47288" y="1828800"/>
            <a:ext cx="82296" cy="3383280"/>
          </a:xfrm>
          <a:prstGeom prst="roundRect">
            <a:avLst/>
          </a:prstGeom>
          <a:solidFill>
            <a:srgbClr val="38BDD0"/>
          </a:solidFill>
          <a:ln>
            <a:solidFill>
              <a:srgbClr val="38B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75887" y="2057400"/>
            <a:ext cx="457200" cy="457200"/>
          </a:xfrm>
          <a:prstGeom prst="roundRect">
            <a:avLst/>
          </a:prstGeom>
          <a:solidFill>
            <a:srgbClr val="38BDD0"/>
          </a:solidFill>
          <a:ln>
            <a:solidFill>
              <a:srgbClr val="38B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75887" y="2057400"/>
            <a:ext cx="4572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0248" y="2029968"/>
            <a:ext cx="151790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11F34"/>
                </a:solidFill>
                <a:latin typeface="Aptos"/>
              </a:rPr>
              <a:t>BLOCK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2487168"/>
            <a:ext cx="2066543" cy="25877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Reserve focus and preparation 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0216" y="1828800"/>
            <a:ext cx="2523744" cy="3383280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00216" y="1828800"/>
            <a:ext cx="82296" cy="3383280"/>
          </a:xfrm>
          <a:prstGeom prst="roundRect">
            <a:avLst/>
          </a:prstGeom>
          <a:solidFill>
            <a:srgbClr val="F2B134"/>
          </a:solidFill>
          <a:ln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28816" y="2057400"/>
            <a:ext cx="457200" cy="457200"/>
          </a:xfrm>
          <a:prstGeom prst="roundRect">
            <a:avLst/>
          </a:prstGeom>
          <a:solidFill>
            <a:srgbClr val="F2B134"/>
          </a:solidFill>
          <a:ln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28816" y="2057400"/>
            <a:ext cx="4572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23176" y="2029968"/>
            <a:ext cx="1517903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11F34"/>
                </a:solidFill>
                <a:latin typeface="Aptos"/>
              </a:rPr>
              <a:t>BALANCE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6248" y="2487168"/>
            <a:ext cx="2066543" cy="25877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Keep 15% contingency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53144" y="1828800"/>
            <a:ext cx="2523744" cy="3383280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53144" y="1828800"/>
            <a:ext cx="82296" cy="3383280"/>
          </a:xfrm>
          <a:prstGeom prst="roundRect">
            <a:avLst/>
          </a:prstGeom>
          <a:solidFill>
            <a:srgbClr val="EF6A53"/>
          </a:solidFill>
          <a:ln>
            <a:solidFill>
              <a:srgbClr val="EF6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381744" y="2057400"/>
            <a:ext cx="457200" cy="457200"/>
          </a:xfrm>
          <a:prstGeom prst="roundRect">
            <a:avLst/>
          </a:prstGeom>
          <a:solidFill>
            <a:srgbClr val="EF6A53"/>
          </a:solidFill>
          <a:ln>
            <a:solidFill>
              <a:srgbClr val="EF6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81744" y="2057400"/>
            <a:ext cx="4572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76104" y="2029968"/>
            <a:ext cx="1517903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11F34"/>
                </a:solidFill>
                <a:latin typeface="Aptos"/>
              </a:rPr>
              <a:t>DECIDE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9176" y="2487168"/>
            <a:ext cx="2066543" cy="25877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Do • delegate • defer • decline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577840"/>
            <a:ext cx="102412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111F34"/>
                </a:solidFill>
                <a:latin typeface="Aptos"/>
              </a:rPr>
              <a:t>AI proposes the schedule. You decide what deserves your time.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" y="6446520"/>
            <a:ext cx="59436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Practical • Responsible • Human-led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29793"/>
          </a:solidFill>
          <a:ln>
            <a:solidFill>
              <a:srgbClr val="12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6858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129793"/>
                </a:solidFill>
                <a:latin typeface="Aptos"/>
              </a:rPr>
              <a:t>MODULE 7 • WEEKLY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9728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11F34"/>
                </a:solidFill>
                <a:latin typeface="Aptos"/>
              </a:rPr>
              <a:t>Reusable prompt: weekly planning coach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81328"/>
            <a:ext cx="10789920" cy="3337560"/>
          </a:xfrm>
          <a:prstGeom prst="roundRect">
            <a:avLst/>
          </a:prstGeom>
          <a:solidFill>
            <a:srgbClr val="E1F1F2"/>
          </a:solidFill>
          <a:ln>
            <a:solidFill>
              <a:srgbClr val="B4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47088"/>
            <a:ext cx="10058400" cy="2514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>
                <a:solidFill>
                  <a:srgbClr val="1F2D3D"/>
                </a:solidFill>
                <a:latin typeface="Aptos"/>
              </a:rPr>
              <a:t>Act as my business productivity coach. Using my goals, deadlines, meetings and available hours, create a realistic weekly plan. Separate fixed commitments from flexible tasks. Include three priorities, daily time blocks, preparation and follow-up time, and 15% contingency. Identify conflicts and tasks to delegate. Ask questions where important information is missing.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257800"/>
            <a:ext cx="1645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793"/>
                </a:solidFill>
                <a:latin typeface="Aptos"/>
              </a:rPr>
              <a:t>INPUTS TO PROVIDE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5230368"/>
            <a:ext cx="8686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11F34"/>
                </a:solidFill>
                <a:latin typeface="Aptos"/>
              </a:rPr>
              <a:t>Goals  •  deadlines  •  meetings  •  working hours  •  energy constraints  •  delegation options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446520"/>
            <a:ext cx="59436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Practical • Responsible • Human-led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29793"/>
          </a:solidFill>
          <a:ln>
            <a:solidFill>
              <a:srgbClr val="12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6858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129793"/>
                </a:solidFill>
                <a:latin typeface="Aptos"/>
              </a:rPr>
              <a:t>MODULE 8 • MEETINGS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9728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11F34"/>
                </a:solidFill>
                <a:latin typeface="Aptos"/>
              </a:rPr>
              <a:t>Use AI across the meeting lifecycle</a:t>
            </a:r>
          </a:p>
        </p:txBody>
      </p:sp>
      <p:sp>
        <p:nvSpPr>
          <p:cNvPr id="6" name="Oval 5"/>
          <p:cNvSpPr/>
          <p:nvPr/>
        </p:nvSpPr>
        <p:spPr>
          <a:xfrm>
            <a:off x="1014983" y="1828800"/>
            <a:ext cx="914400" cy="914400"/>
          </a:xfrm>
          <a:prstGeom prst="ellipse">
            <a:avLst/>
          </a:prstGeom>
          <a:solidFill>
            <a:srgbClr val="129793"/>
          </a:solidFill>
          <a:ln>
            <a:solidFill>
              <a:srgbClr val="12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3" y="1828800"/>
            <a:ext cx="914400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063240"/>
            <a:ext cx="1737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111F34"/>
                </a:solidFill>
                <a:latin typeface="Aptos"/>
              </a:rPr>
              <a:t>NEED?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520440"/>
            <a:ext cx="19202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Aptos"/>
              </a:rPr>
              <a:t>Could an email solve it?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57400"/>
            <a:ext cx="4114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DCE4EA"/>
                </a:solidFill>
                <a:latin typeface="Aptos"/>
              </a:rP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3346703" y="1828800"/>
            <a:ext cx="914400" cy="914400"/>
          </a:xfrm>
          <a:prstGeom prst="ellipse">
            <a:avLst/>
          </a:prstGeom>
          <a:solidFill>
            <a:srgbClr val="38BDD0"/>
          </a:solidFill>
          <a:ln>
            <a:solidFill>
              <a:srgbClr val="38B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6703" y="1828800"/>
            <a:ext cx="914400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79" y="3063240"/>
            <a:ext cx="1737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111F34"/>
                </a:solidFill>
                <a:latin typeface="Aptos"/>
              </a:rPr>
              <a:t>PREPARE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39" y="3520440"/>
            <a:ext cx="19202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Aptos"/>
              </a:rPr>
              <a:t>Objective, people, agenda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057400"/>
            <a:ext cx="4114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DCE4EA"/>
                </a:solidFill>
                <a:latin typeface="Aptos"/>
              </a:rPr>
              <a:t>→</a:t>
            </a:r>
          </a:p>
        </p:txBody>
      </p:sp>
      <p:sp>
        <p:nvSpPr>
          <p:cNvPr id="16" name="Oval 15"/>
          <p:cNvSpPr/>
          <p:nvPr/>
        </p:nvSpPr>
        <p:spPr>
          <a:xfrm>
            <a:off x="5678424" y="1828800"/>
            <a:ext cx="914400" cy="914400"/>
          </a:xfrm>
          <a:prstGeom prst="ellipse">
            <a:avLst/>
          </a:prstGeom>
          <a:solidFill>
            <a:srgbClr val="F2B134"/>
          </a:solidFill>
          <a:ln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78424" y="1828800"/>
            <a:ext cx="914400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3063240"/>
            <a:ext cx="1737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111F34"/>
                </a:solidFill>
                <a:latin typeface="Aptos"/>
              </a:rPr>
              <a:t>RUN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59" y="3520440"/>
            <a:ext cx="19202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Aptos"/>
              </a:rPr>
              <a:t>Questions and notes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59" y="2057400"/>
            <a:ext cx="4114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DCE4EA"/>
                </a:solidFill>
                <a:latin typeface="Aptos"/>
              </a:rPr>
              <a:t>→</a:t>
            </a:r>
          </a:p>
        </p:txBody>
      </p:sp>
      <p:sp>
        <p:nvSpPr>
          <p:cNvPr id="21" name="Oval 20"/>
          <p:cNvSpPr/>
          <p:nvPr/>
        </p:nvSpPr>
        <p:spPr>
          <a:xfrm>
            <a:off x="8010143" y="1828800"/>
            <a:ext cx="914400" cy="914400"/>
          </a:xfrm>
          <a:prstGeom prst="ellipse">
            <a:avLst/>
          </a:prstGeom>
          <a:solidFill>
            <a:srgbClr val="EF6A53"/>
          </a:solidFill>
          <a:ln>
            <a:solidFill>
              <a:srgbClr val="EF6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10143" y="1828800"/>
            <a:ext cx="914400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19" y="3063240"/>
            <a:ext cx="1737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111F34"/>
                </a:solidFill>
                <a:latin typeface="Aptos"/>
              </a:rPr>
              <a:t>CLOSE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3520440"/>
            <a:ext cx="19202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Aptos"/>
              </a:rPr>
              <a:t>Decisions and owners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2057400"/>
            <a:ext cx="4114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DCE4EA"/>
                </a:solidFill>
                <a:latin typeface="Aptos"/>
              </a:rPr>
              <a:t>→</a:t>
            </a:r>
          </a:p>
        </p:txBody>
      </p:sp>
      <p:sp>
        <p:nvSpPr>
          <p:cNvPr id="26" name="Oval 25"/>
          <p:cNvSpPr/>
          <p:nvPr/>
        </p:nvSpPr>
        <p:spPr>
          <a:xfrm>
            <a:off x="10341863" y="1828800"/>
            <a:ext cx="914400" cy="914400"/>
          </a:xfrm>
          <a:prstGeom prst="ellipse">
            <a:avLst/>
          </a:prstGeom>
          <a:solidFill>
            <a:srgbClr val="129793"/>
          </a:solidFill>
          <a:ln>
            <a:solidFill>
              <a:srgbClr val="12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41863" y="1828800"/>
            <a:ext cx="914400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21240" y="3063240"/>
            <a:ext cx="1737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111F34"/>
                </a:solidFill>
                <a:latin typeface="Aptos"/>
              </a:rPr>
              <a:t>FOLLOW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3520440"/>
            <a:ext cx="19202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Aptos"/>
              </a:rPr>
              <a:t>Actions and reminders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3232" y="5010912"/>
            <a:ext cx="10771632" cy="640080"/>
          </a:xfrm>
          <a:prstGeom prst="roundRect">
            <a:avLst/>
          </a:prstGeom>
          <a:solidFill>
            <a:srgbClr val="FDEEEB"/>
          </a:solidFill>
          <a:ln>
            <a:solidFill>
              <a:srgbClr val="FDE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193792"/>
            <a:ext cx="10332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EF6A53"/>
                </a:solidFill>
                <a:latin typeface="Aptos"/>
              </a:rPr>
              <a:t>Recording or transcribing? Obtain consent and follow organizational privacy rules.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6446520"/>
            <a:ext cx="59436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Practical • Responsible • Human-led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29793"/>
          </a:solidFill>
          <a:ln>
            <a:solidFill>
              <a:srgbClr val="12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6858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129793"/>
                </a:solidFill>
                <a:latin typeface="Aptos"/>
              </a:rPr>
              <a:t>MODULE 9 • BUSINESS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9728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11F34"/>
                </a:solidFill>
                <a:latin typeface="Aptos"/>
              </a:rPr>
              <a:t>Apply AI where work actually happens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874519"/>
            <a:ext cx="2057400" cy="3154680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874519"/>
            <a:ext cx="82296" cy="3154680"/>
          </a:xfrm>
          <a:prstGeom prst="roundRect">
            <a:avLst/>
          </a:prstGeom>
          <a:solidFill>
            <a:srgbClr val="129793"/>
          </a:solidFill>
          <a:ln>
            <a:solidFill>
              <a:srgbClr val="12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2075688"/>
            <a:ext cx="1618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11F34"/>
                </a:solidFill>
                <a:latin typeface="Aptos"/>
              </a:rPr>
              <a:t>LEADERS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532887"/>
            <a:ext cx="1600200" cy="23591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Briefings • options • communication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874519"/>
            <a:ext cx="2057400" cy="3154680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43200" y="1874519"/>
            <a:ext cx="82296" cy="3154680"/>
          </a:xfrm>
          <a:prstGeom prst="roundRect">
            <a:avLst/>
          </a:prstGeom>
          <a:solidFill>
            <a:srgbClr val="38BDD0"/>
          </a:solidFill>
          <a:ln>
            <a:solidFill>
              <a:srgbClr val="38B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99232" y="2075688"/>
            <a:ext cx="1618487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11F34"/>
                </a:solidFill>
                <a:latin typeface="Aptos"/>
              </a:rPr>
              <a:t>HR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9232" y="2532887"/>
            <a:ext cx="1600200" cy="23591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Training • surveys • job drafts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4920" y="1874519"/>
            <a:ext cx="2057400" cy="3154680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74920" y="1874519"/>
            <a:ext cx="82296" cy="3154680"/>
          </a:xfrm>
          <a:prstGeom prst="roundRect">
            <a:avLst/>
          </a:prstGeom>
          <a:solidFill>
            <a:srgbClr val="F2B134"/>
          </a:solidFill>
          <a:ln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0952" y="2075688"/>
            <a:ext cx="1618487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11F34"/>
                </a:solidFill>
                <a:latin typeface="Aptos"/>
              </a:rPr>
              <a:t>SALES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0952" y="2532887"/>
            <a:ext cx="1600200" cy="23591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Preparation • proposals • feedback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1874519"/>
            <a:ext cx="2057400" cy="3154680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06640" y="1874519"/>
            <a:ext cx="82296" cy="3154680"/>
          </a:xfrm>
          <a:prstGeom prst="roundRect">
            <a:avLst/>
          </a:prstGeom>
          <a:solidFill>
            <a:srgbClr val="EF6A53"/>
          </a:solidFill>
          <a:ln>
            <a:solidFill>
              <a:srgbClr val="EF6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62671" y="2075688"/>
            <a:ext cx="1618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11F34"/>
                </a:solidFill>
                <a:latin typeface="Aptos"/>
              </a:rPr>
              <a:t>FINANCE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62671" y="2532887"/>
            <a:ext cx="1600200" cy="23591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Variance • controls • scenarios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38359" y="1874519"/>
            <a:ext cx="2057400" cy="3154680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738359" y="1874519"/>
            <a:ext cx="82296" cy="3154680"/>
          </a:xfrm>
          <a:prstGeom prst="roundRect">
            <a:avLst/>
          </a:prstGeom>
          <a:solidFill>
            <a:srgbClr val="129793"/>
          </a:solidFill>
          <a:ln>
            <a:solidFill>
              <a:srgbClr val="12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94391" y="2075688"/>
            <a:ext cx="1618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11F34"/>
                </a:solidFill>
                <a:latin typeface="Aptos"/>
              </a:rPr>
              <a:t>OPERATIONS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94391" y="2532887"/>
            <a:ext cx="1600200" cy="23591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Plans • risks • procedures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504688"/>
            <a:ext cx="106070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11F34"/>
                </a:solidFill>
                <a:latin typeface="Aptos"/>
              </a:rPr>
              <a:t>High-impact employment, financial, legal and customer decisions remain human decisions.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6446520"/>
            <a:ext cx="59436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Practical • Responsible • Human-led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29793"/>
          </a:solidFill>
          <a:ln>
            <a:solidFill>
              <a:srgbClr val="12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6858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129793"/>
                </a:solidFill>
                <a:latin typeface="Aptos"/>
              </a:rPr>
              <a:t>MODULE 10 • RESPONSIBLE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9728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11F34"/>
                </a:solidFill>
                <a:latin typeface="Aptos"/>
              </a:rPr>
              <a:t>A simple rule before every prompt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10698480" cy="960120"/>
          </a:xfrm>
          <a:prstGeom prst="roundRect">
            <a:avLst/>
          </a:prstGeom>
          <a:solidFill>
            <a:srgbClr val="111F34"/>
          </a:solidFill>
          <a:ln>
            <a:solidFill>
              <a:srgbClr val="111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01368"/>
            <a:ext cx="100584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Is both the information and the AI system approved by my organization?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3063240"/>
            <a:ext cx="2487168" cy="2377440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" y="3063240"/>
            <a:ext cx="82296" cy="2377440"/>
          </a:xfrm>
          <a:prstGeom prst="roundRect">
            <a:avLst/>
          </a:prstGeom>
          <a:solidFill>
            <a:srgbClr val="129793"/>
          </a:solidFill>
          <a:ln>
            <a:solidFill>
              <a:srgbClr val="12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3264408"/>
            <a:ext cx="2048256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11F34"/>
                </a:solidFill>
                <a:latin typeface="Aptos"/>
              </a:rPr>
              <a:t>PROTECT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721608"/>
            <a:ext cx="2029968" cy="1581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Personal, customer, employee and confidential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3063240"/>
            <a:ext cx="2487168" cy="2377440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56432" y="3063240"/>
            <a:ext cx="82296" cy="2377440"/>
          </a:xfrm>
          <a:prstGeom prst="roundRect">
            <a:avLst/>
          </a:prstGeom>
          <a:solidFill>
            <a:srgbClr val="38BDD0"/>
          </a:solidFill>
          <a:ln>
            <a:solidFill>
              <a:srgbClr val="38B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12464" y="3264408"/>
            <a:ext cx="2048255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11F34"/>
                </a:solidFill>
                <a:latin typeface="Aptos"/>
              </a:rPr>
              <a:t>VERIFY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12464" y="3721608"/>
            <a:ext cx="2029968" cy="1581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Facts, sources, calculations and quotations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3063240"/>
            <a:ext cx="2487168" cy="2377440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91072" y="3063240"/>
            <a:ext cx="82296" cy="2377440"/>
          </a:xfrm>
          <a:prstGeom prst="roundRect">
            <a:avLst/>
          </a:prstGeom>
          <a:solidFill>
            <a:srgbClr val="F2B134"/>
          </a:solidFill>
          <a:ln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47104" y="3264408"/>
            <a:ext cx="2048255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11F34"/>
                </a:solidFill>
                <a:latin typeface="Aptos"/>
              </a:rPr>
              <a:t>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3721608"/>
            <a:ext cx="2029968" cy="1581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Human approval for material actions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25712" y="3063240"/>
            <a:ext cx="2487168" cy="2377440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25712" y="3063240"/>
            <a:ext cx="82296" cy="2377440"/>
          </a:xfrm>
          <a:prstGeom prst="roundRect">
            <a:avLst/>
          </a:prstGeom>
          <a:solidFill>
            <a:srgbClr val="EF6A53"/>
          </a:solidFill>
          <a:ln>
            <a:solidFill>
              <a:srgbClr val="EF6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81744" y="3264408"/>
            <a:ext cx="2048256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11F34"/>
                </a:solidFill>
                <a:latin typeface="Aptos"/>
              </a:rPr>
              <a:t>DOCUMENT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81744" y="3721608"/>
            <a:ext cx="2029968" cy="1581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Inputs, outputs and decisions when required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6446520"/>
            <a:ext cx="59436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Practical • Responsible • Human-led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29793"/>
          </a:solidFill>
          <a:ln>
            <a:solidFill>
              <a:srgbClr val="12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6858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129793"/>
                </a:solidFill>
                <a:latin typeface="Aptos"/>
              </a:rPr>
              <a:t>MODULE 10 • RESPONSIBLE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9728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11F34"/>
                </a:solidFill>
                <a:latin typeface="Aptos"/>
              </a:rPr>
              <a:t>The nine-point verification 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3429000" cy="1005840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7" y="1755648"/>
            <a:ext cx="438912" cy="438912"/>
          </a:xfrm>
          <a:prstGeom prst="roundRect">
            <a:avLst/>
          </a:prstGeom>
          <a:solidFill>
            <a:srgbClr val="129793"/>
          </a:solidFill>
          <a:ln>
            <a:solidFill>
              <a:srgbClr val="12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55648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1764792"/>
            <a:ext cx="2395728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11F34"/>
                </a:solidFill>
                <a:latin typeface="Aptos"/>
              </a:rPr>
              <a:t>Names, dates and figures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508760"/>
            <a:ext cx="3429000" cy="1005840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08576" y="1755648"/>
            <a:ext cx="438912" cy="438912"/>
          </a:xfrm>
          <a:prstGeom prst="roundRect">
            <a:avLst/>
          </a:prstGeom>
          <a:solidFill>
            <a:srgbClr val="129793"/>
          </a:solidFill>
          <a:ln>
            <a:solidFill>
              <a:srgbClr val="12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6" y="1755648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764792"/>
            <a:ext cx="2395728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11F34"/>
                </a:solidFill>
                <a:latin typeface="Aptos"/>
              </a:rPr>
              <a:t>Source-bound—not invented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74736" y="1508760"/>
            <a:ext cx="3429000" cy="1005840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75904" y="1755648"/>
            <a:ext cx="438912" cy="438912"/>
          </a:xfrm>
          <a:prstGeom prst="roundRect">
            <a:avLst/>
          </a:prstGeom>
          <a:solidFill>
            <a:srgbClr val="129793"/>
          </a:solidFill>
          <a:ln>
            <a:solidFill>
              <a:srgbClr val="12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75904" y="1755648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79408" y="1764792"/>
            <a:ext cx="2395728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11F34"/>
                </a:solidFill>
                <a:latin typeface="Aptos"/>
              </a:rPr>
              <a:t>Important omissions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862072"/>
            <a:ext cx="3429000" cy="1005840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1247" y="3108960"/>
            <a:ext cx="438912" cy="438912"/>
          </a:xfrm>
          <a:prstGeom prst="roundRect">
            <a:avLst/>
          </a:prstGeom>
          <a:solidFill>
            <a:srgbClr val="129793"/>
          </a:solidFill>
          <a:ln>
            <a:solidFill>
              <a:srgbClr val="12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" y="3108960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44752" y="3118104"/>
            <a:ext cx="2395728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11F34"/>
                </a:solidFill>
                <a:latin typeface="Aptos"/>
              </a:rPr>
              <a:t>Audience and tone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07408" y="2862072"/>
            <a:ext cx="3429000" cy="1005840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608576" y="3108960"/>
            <a:ext cx="438912" cy="438912"/>
          </a:xfrm>
          <a:prstGeom prst="roundRect">
            <a:avLst/>
          </a:prstGeom>
          <a:solidFill>
            <a:srgbClr val="129793"/>
          </a:solidFill>
          <a:ln>
            <a:solidFill>
              <a:srgbClr val="12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08576" y="3108960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3118104"/>
            <a:ext cx="2395728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11F34"/>
                </a:solidFill>
                <a:latin typeface="Aptos"/>
              </a:rPr>
              <a:t>Confidential information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74736" y="2862072"/>
            <a:ext cx="3429000" cy="1005840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375904" y="3108960"/>
            <a:ext cx="438912" cy="438912"/>
          </a:xfrm>
          <a:prstGeom prst="roundRect">
            <a:avLst/>
          </a:prstGeom>
          <a:solidFill>
            <a:srgbClr val="129793"/>
          </a:solidFill>
          <a:ln>
            <a:solidFill>
              <a:srgbClr val="12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75904" y="3108960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79408" y="3118104"/>
            <a:ext cx="2395728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11F34"/>
                </a:solidFill>
                <a:latin typeface="Aptos"/>
              </a:rPr>
              <a:t>Company policy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215383"/>
            <a:ext cx="3429000" cy="1005840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41247" y="4462271"/>
            <a:ext cx="438912" cy="438912"/>
          </a:xfrm>
          <a:prstGeom prst="roundRect">
            <a:avLst/>
          </a:prstGeom>
          <a:solidFill>
            <a:srgbClr val="129793"/>
          </a:solidFill>
          <a:ln>
            <a:solidFill>
              <a:srgbClr val="12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7" y="446227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44752" y="4471416"/>
            <a:ext cx="2395728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11F34"/>
                </a:solidFill>
                <a:latin typeface="Aptos"/>
              </a:rPr>
              <a:t>Bias or unfair impact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07408" y="4215383"/>
            <a:ext cx="3429000" cy="1005840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608576" y="4462271"/>
            <a:ext cx="438912" cy="438912"/>
          </a:xfrm>
          <a:prstGeom prst="roundRect">
            <a:avLst/>
          </a:prstGeom>
          <a:solidFill>
            <a:srgbClr val="129793"/>
          </a:solidFill>
          <a:ln>
            <a:solidFill>
              <a:srgbClr val="12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08576" y="446227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4471416"/>
            <a:ext cx="2395728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11F34"/>
                </a:solidFill>
                <a:latin typeface="Aptos"/>
              </a:rPr>
              <a:t>Expert approval needed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74736" y="4215383"/>
            <a:ext cx="3429000" cy="1005840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375904" y="4462271"/>
            <a:ext cx="438912" cy="438912"/>
          </a:xfrm>
          <a:prstGeom prst="roundRect">
            <a:avLst/>
          </a:prstGeom>
          <a:solidFill>
            <a:srgbClr val="129793"/>
          </a:solidFill>
          <a:ln>
            <a:solidFill>
              <a:srgbClr val="12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75904" y="446227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79408" y="4471416"/>
            <a:ext cx="2395728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11F34"/>
                </a:solidFill>
                <a:latin typeface="Aptos"/>
              </a:rPr>
              <a:t>I accept responsibility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0352" y="6446520"/>
            <a:ext cx="59436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Practical • Responsible • Human-led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29793"/>
          </a:solidFill>
          <a:ln>
            <a:solidFill>
              <a:srgbClr val="12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6858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129793"/>
                </a:solidFill>
                <a:latin typeface="Aptos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9728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11F34"/>
                </a:solidFill>
                <a:latin typeface="Aptos"/>
              </a:rPr>
              <a:t>Redesign one real business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828800"/>
            <a:ext cx="2057400" cy="3337560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828800"/>
            <a:ext cx="82296" cy="3337560"/>
          </a:xfrm>
          <a:prstGeom prst="roundRect">
            <a:avLst/>
          </a:prstGeom>
          <a:solidFill>
            <a:srgbClr val="129793"/>
          </a:solidFill>
          <a:ln>
            <a:solidFill>
              <a:srgbClr val="12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057400"/>
            <a:ext cx="457200" cy="457200"/>
          </a:xfrm>
          <a:prstGeom prst="roundRect">
            <a:avLst/>
          </a:prstGeom>
          <a:solidFill>
            <a:srgbClr val="129793"/>
          </a:solidFill>
          <a:ln>
            <a:solidFill>
              <a:srgbClr val="12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029968"/>
            <a:ext cx="105156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11F34"/>
                </a:solidFill>
                <a:latin typeface="Aptos"/>
              </a:rPr>
              <a:t>CURRENT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487168"/>
            <a:ext cx="1600200" cy="2542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Process, pain points and 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1828800"/>
            <a:ext cx="2057400" cy="3337560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43200" y="1828800"/>
            <a:ext cx="82296" cy="3337560"/>
          </a:xfrm>
          <a:prstGeom prst="roundRect">
            <a:avLst/>
          </a:prstGeom>
          <a:solidFill>
            <a:srgbClr val="38BDD0"/>
          </a:solidFill>
          <a:ln>
            <a:solidFill>
              <a:srgbClr val="38B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971800" y="2057400"/>
            <a:ext cx="457200" cy="457200"/>
          </a:xfrm>
          <a:prstGeom prst="roundRect">
            <a:avLst/>
          </a:prstGeom>
          <a:solidFill>
            <a:srgbClr val="38BDD0"/>
          </a:solidFill>
          <a:ln>
            <a:solidFill>
              <a:srgbClr val="38B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71800" y="2057400"/>
            <a:ext cx="4572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029968"/>
            <a:ext cx="105156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11F34"/>
                </a:solidFill>
                <a:latin typeface="Aptos"/>
              </a:rPr>
              <a:t>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9232" y="2487168"/>
            <a:ext cx="1600200" cy="2542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AI-assisted workflow and prompts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74920" y="1828800"/>
            <a:ext cx="2057400" cy="3337560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74920" y="1828800"/>
            <a:ext cx="82296" cy="3337560"/>
          </a:xfrm>
          <a:prstGeom prst="roundRect">
            <a:avLst/>
          </a:prstGeom>
          <a:solidFill>
            <a:srgbClr val="F2B134"/>
          </a:solidFill>
          <a:ln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303520" y="2057400"/>
            <a:ext cx="457200" cy="457200"/>
          </a:xfrm>
          <a:prstGeom prst="roundRect">
            <a:avLst/>
          </a:prstGeom>
          <a:solidFill>
            <a:srgbClr val="F2B134"/>
          </a:solidFill>
          <a:ln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0" y="2057400"/>
            <a:ext cx="4572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880" y="2029968"/>
            <a:ext cx="1051559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11F34"/>
                </a:solidFill>
                <a:latin typeface="Aptos"/>
              </a:rPr>
              <a:t>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0952" y="2487168"/>
            <a:ext cx="1600200" cy="2542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Human reviews and data risks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06640" y="1828800"/>
            <a:ext cx="2057400" cy="3337560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06640" y="1828800"/>
            <a:ext cx="82296" cy="3337560"/>
          </a:xfrm>
          <a:prstGeom prst="roundRect">
            <a:avLst/>
          </a:prstGeom>
          <a:solidFill>
            <a:srgbClr val="EF6A53"/>
          </a:solidFill>
          <a:ln>
            <a:solidFill>
              <a:srgbClr val="EF6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635240" y="2057400"/>
            <a:ext cx="457200" cy="457200"/>
          </a:xfrm>
          <a:prstGeom prst="roundRect">
            <a:avLst/>
          </a:prstGeom>
          <a:solidFill>
            <a:srgbClr val="EF6A53"/>
          </a:solidFill>
          <a:ln>
            <a:solidFill>
              <a:srgbClr val="EF6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35240" y="2057400"/>
            <a:ext cx="4572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2029968"/>
            <a:ext cx="1051559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11F34"/>
                </a:solidFill>
                <a:latin typeface="Aptos"/>
              </a:rPr>
              <a:t>PROVE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62671" y="2487168"/>
            <a:ext cx="1600200" cy="2542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Example outputs and expected gain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38359" y="1828800"/>
            <a:ext cx="2057400" cy="3337560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738359" y="1828800"/>
            <a:ext cx="82296" cy="3337560"/>
          </a:xfrm>
          <a:prstGeom prst="roundRect">
            <a:avLst/>
          </a:prstGeom>
          <a:solidFill>
            <a:srgbClr val="129793"/>
          </a:solidFill>
          <a:ln>
            <a:solidFill>
              <a:srgbClr val="12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966959" y="2057400"/>
            <a:ext cx="457200" cy="457200"/>
          </a:xfrm>
          <a:prstGeom prst="roundRect">
            <a:avLst/>
          </a:prstGeom>
          <a:solidFill>
            <a:srgbClr val="129793"/>
          </a:solidFill>
          <a:ln>
            <a:solidFill>
              <a:srgbClr val="12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66959" y="2057400"/>
            <a:ext cx="4572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61319" y="2029968"/>
            <a:ext cx="1051559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11F34"/>
                </a:solidFill>
                <a:latin typeface="Aptos"/>
              </a:rPr>
              <a:t>MEASURE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94391" y="2487168"/>
            <a:ext cx="1600200" cy="2542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30-day adoption and quality plan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605272"/>
            <a:ext cx="10972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  <a:latin typeface="Aptos"/>
              </a:rPr>
              <a:t>Examples: management reporting • customer inquiries • meeting follow-up • onboarding • project status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" y="6446520"/>
            <a:ext cx="59436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Practical • Responsible • Human-led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29793"/>
          </a:solidFill>
          <a:ln>
            <a:solidFill>
              <a:srgbClr val="12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6858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129793"/>
                </a:solidFill>
                <a:latin typeface="Aptos"/>
              </a:rPr>
              <a:t>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9728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11F34"/>
                </a:solidFill>
                <a:latin typeface="Aptos"/>
              </a:rPr>
              <a:t>Assess judgment—not prompt memorization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9659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11F34"/>
                </a:solidFill>
                <a:latin typeface="Aptos"/>
              </a:rPr>
              <a:t>Knowledge checks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1499616"/>
            <a:ext cx="2697480" cy="256032"/>
          </a:xfrm>
          <a:prstGeom prst="roundRect">
            <a:avLst/>
          </a:prstGeom>
          <a:solidFill>
            <a:srgbClr val="DCE4E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651760" y="1499616"/>
            <a:ext cx="2023110" cy="256032"/>
          </a:xfrm>
          <a:prstGeom prst="roundRect">
            <a:avLst/>
          </a:prstGeom>
          <a:solidFill>
            <a:srgbClr val="129793"/>
          </a:solidFill>
          <a:ln>
            <a:solidFill>
              <a:srgbClr val="12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1481328"/>
            <a:ext cx="502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200" b="1">
                <a:solidFill>
                  <a:srgbClr val="64748B"/>
                </a:solidFill>
                <a:latin typeface="Aptos"/>
              </a:rPr>
              <a:t>15%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532888"/>
            <a:ext cx="19659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11F34"/>
                </a:solidFill>
                <a:latin typeface="Aptos"/>
              </a:rPr>
              <a:t>Email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2551176"/>
            <a:ext cx="2697480" cy="256032"/>
          </a:xfrm>
          <a:prstGeom prst="roundRect">
            <a:avLst/>
          </a:prstGeom>
          <a:solidFill>
            <a:srgbClr val="DCE4E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651760" y="2551176"/>
            <a:ext cx="1348740" cy="256032"/>
          </a:xfrm>
          <a:prstGeom prst="roundRect">
            <a:avLst/>
          </a:prstGeom>
          <a:solidFill>
            <a:srgbClr val="129793"/>
          </a:solidFill>
          <a:ln>
            <a:solidFill>
              <a:srgbClr val="12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2532888"/>
            <a:ext cx="502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200" b="1">
                <a:solidFill>
                  <a:srgbClr val="64748B"/>
                </a:solidFill>
                <a:latin typeface="Aptos"/>
              </a:rPr>
              <a:t>10%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584448"/>
            <a:ext cx="19659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11F34"/>
                </a:solidFill>
                <a:latin typeface="Aptos"/>
              </a:rPr>
              <a:t>Documents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3602736"/>
            <a:ext cx="2697480" cy="256032"/>
          </a:xfrm>
          <a:prstGeom prst="roundRect">
            <a:avLst/>
          </a:prstGeom>
          <a:solidFill>
            <a:srgbClr val="DCE4E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651760" y="3602736"/>
            <a:ext cx="1348740" cy="256032"/>
          </a:xfrm>
          <a:prstGeom prst="roundRect">
            <a:avLst/>
          </a:prstGeom>
          <a:solidFill>
            <a:srgbClr val="129793"/>
          </a:solidFill>
          <a:ln>
            <a:solidFill>
              <a:srgbClr val="12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0" y="3584448"/>
            <a:ext cx="502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200" b="1">
                <a:solidFill>
                  <a:srgbClr val="64748B"/>
                </a:solidFill>
                <a:latin typeface="Aptos"/>
              </a:rPr>
              <a:t>10%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636008"/>
            <a:ext cx="19659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11F34"/>
                </a:solidFill>
                <a:latin typeface="Aptos"/>
              </a:rPr>
              <a:t>Spreadsheet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4654296"/>
            <a:ext cx="2697480" cy="256032"/>
          </a:xfrm>
          <a:prstGeom prst="roundRect">
            <a:avLst/>
          </a:prstGeom>
          <a:solidFill>
            <a:srgbClr val="DCE4E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651760" y="4654296"/>
            <a:ext cx="2023110" cy="256032"/>
          </a:xfrm>
          <a:prstGeom prst="roundRect">
            <a:avLst/>
          </a:prstGeom>
          <a:solidFill>
            <a:srgbClr val="129793"/>
          </a:solidFill>
          <a:ln>
            <a:solidFill>
              <a:srgbClr val="12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0" y="4636008"/>
            <a:ext cx="502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200" b="1">
                <a:solidFill>
                  <a:srgbClr val="64748B"/>
                </a:solidFill>
                <a:latin typeface="Aptos"/>
              </a:rPr>
              <a:t>15%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481328"/>
            <a:ext cx="19659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11F34"/>
                </a:solidFill>
                <a:latin typeface="Aptos"/>
              </a:rPr>
              <a:t>Presentation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66760" y="1499616"/>
            <a:ext cx="2697480" cy="256032"/>
          </a:xfrm>
          <a:prstGeom prst="roundRect">
            <a:avLst/>
          </a:prstGeom>
          <a:solidFill>
            <a:srgbClr val="DCE4E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366760" y="1499616"/>
            <a:ext cx="1348740" cy="256032"/>
          </a:xfrm>
          <a:prstGeom prst="roundRect">
            <a:avLst/>
          </a:prstGeom>
          <a:solidFill>
            <a:srgbClr val="38BDD0"/>
          </a:solidFill>
          <a:ln>
            <a:solidFill>
              <a:srgbClr val="38B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201400" y="1481328"/>
            <a:ext cx="502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200" b="1">
                <a:solidFill>
                  <a:srgbClr val="64748B"/>
                </a:solidFill>
                <a:latin typeface="Aptos"/>
              </a:rPr>
              <a:t>10%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532888"/>
            <a:ext cx="19659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11F34"/>
                </a:solidFill>
                <a:latin typeface="Aptos"/>
              </a:rPr>
              <a:t>Weekly planning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66760" y="2551176"/>
            <a:ext cx="2697480" cy="256032"/>
          </a:xfrm>
          <a:prstGeom prst="roundRect">
            <a:avLst/>
          </a:prstGeom>
          <a:solidFill>
            <a:srgbClr val="DCE4E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66760" y="2551176"/>
            <a:ext cx="1348740" cy="256032"/>
          </a:xfrm>
          <a:prstGeom prst="roundRect">
            <a:avLst/>
          </a:prstGeom>
          <a:solidFill>
            <a:srgbClr val="38BDD0"/>
          </a:solidFill>
          <a:ln>
            <a:solidFill>
              <a:srgbClr val="38B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201400" y="2532888"/>
            <a:ext cx="502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200" b="1">
                <a:solidFill>
                  <a:srgbClr val="64748B"/>
                </a:solidFill>
                <a:latin typeface="Aptos"/>
              </a:rPr>
              <a:t>10%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584448"/>
            <a:ext cx="19659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11F34"/>
                </a:solidFill>
                <a:latin typeface="Aptos"/>
              </a:rPr>
              <a:t>Responsible AI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66760" y="3602736"/>
            <a:ext cx="2697480" cy="256032"/>
          </a:xfrm>
          <a:prstGeom prst="roundRect">
            <a:avLst/>
          </a:prstGeom>
          <a:solidFill>
            <a:srgbClr val="DCE4E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366760" y="3602736"/>
            <a:ext cx="1348740" cy="256032"/>
          </a:xfrm>
          <a:prstGeom prst="roundRect">
            <a:avLst/>
          </a:prstGeom>
          <a:solidFill>
            <a:srgbClr val="38BDD0"/>
          </a:solidFill>
          <a:ln>
            <a:solidFill>
              <a:srgbClr val="38B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201400" y="3584448"/>
            <a:ext cx="502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200" b="1">
                <a:solidFill>
                  <a:srgbClr val="64748B"/>
                </a:solidFill>
                <a:latin typeface="Aptos"/>
              </a:rPr>
              <a:t>10%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636008"/>
            <a:ext cx="19659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11F34"/>
                </a:solidFill>
                <a:latin typeface="Aptos"/>
              </a:rPr>
              <a:t>Capstone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66760" y="4654296"/>
            <a:ext cx="2697480" cy="256032"/>
          </a:xfrm>
          <a:prstGeom prst="roundRect">
            <a:avLst/>
          </a:prstGeom>
          <a:solidFill>
            <a:srgbClr val="DCE4E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366760" y="4654296"/>
            <a:ext cx="2697480" cy="256032"/>
          </a:xfrm>
          <a:prstGeom prst="roundRect">
            <a:avLst/>
          </a:prstGeom>
          <a:solidFill>
            <a:srgbClr val="38BDD0"/>
          </a:solidFill>
          <a:ln>
            <a:solidFill>
              <a:srgbClr val="38B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201400" y="4636008"/>
            <a:ext cx="502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200" b="1">
                <a:solidFill>
                  <a:srgbClr val="64748B"/>
                </a:solidFill>
                <a:latin typeface="Aptos"/>
              </a:rPr>
              <a:t>20%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5806440"/>
            <a:ext cx="10698480" cy="438912"/>
          </a:xfrm>
          <a:prstGeom prst="roundRect">
            <a:avLst/>
          </a:prstGeom>
          <a:solidFill>
            <a:srgbClr val="E1F1F2"/>
          </a:solidFill>
          <a:ln>
            <a:solidFill>
              <a:srgbClr val="E1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907024"/>
            <a:ext cx="103327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129793"/>
                </a:solidFill>
                <a:latin typeface="Aptos"/>
              </a:rPr>
              <a:t>Rubric: usefulness • accuracy • verification • communication • safety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0352" y="6446520"/>
            <a:ext cx="59436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Practical • Responsible • Human-led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29793"/>
          </a:solidFill>
          <a:ln>
            <a:solidFill>
              <a:srgbClr val="12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6858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129793"/>
                </a:solidFill>
                <a:latin typeface="Aptos"/>
              </a:rPr>
              <a:t>COURSE 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9728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11F34"/>
                </a:solidFill>
                <a:latin typeface="Aptos"/>
              </a:rPr>
              <a:t>Give participants tools they can reuse Monday morning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3429000" cy="822960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645920"/>
            <a:ext cx="3657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793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618488"/>
            <a:ext cx="2514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11F34"/>
                </a:solidFill>
                <a:latin typeface="Aptos"/>
              </a:rPr>
              <a:t>Participant workbook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6552" y="1417320"/>
            <a:ext cx="3429000" cy="822960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1144" y="1645920"/>
            <a:ext cx="3657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793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02352" y="1618488"/>
            <a:ext cx="2514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11F34"/>
                </a:solidFill>
                <a:latin typeface="Aptos"/>
              </a:rPr>
              <a:t>CRAFT prompt card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38744" y="1417320"/>
            <a:ext cx="3429000" cy="822960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03336" y="1645920"/>
            <a:ext cx="3657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793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24544" y="1618488"/>
            <a:ext cx="2514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11F34"/>
                </a:solidFill>
                <a:latin typeface="Aptos"/>
              </a:rPr>
              <a:t>50–100 prompt library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532888"/>
            <a:ext cx="3429000" cy="822960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2761488"/>
            <a:ext cx="3657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793"/>
                </a:solidFill>
                <a:latin typeface="Aptos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734056"/>
            <a:ext cx="2514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11F34"/>
                </a:solidFill>
                <a:latin typeface="Aptos"/>
              </a:rPr>
              <a:t>Email prompt pack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16552" y="2532888"/>
            <a:ext cx="3429000" cy="822960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2761488"/>
            <a:ext cx="3657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793"/>
                </a:solidFill>
                <a:latin typeface="Aptos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02352" y="2734056"/>
            <a:ext cx="2514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11F34"/>
                </a:solidFill>
                <a:latin typeface="Aptos"/>
              </a:rPr>
              <a:t>Excel analysis pack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38744" y="2532888"/>
            <a:ext cx="3429000" cy="822960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03336" y="2761488"/>
            <a:ext cx="3657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793"/>
                </a:solidFill>
                <a:latin typeface="Aptos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24544" y="2734056"/>
            <a:ext cx="2514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11F34"/>
                </a:solidFill>
                <a:latin typeface="Aptos"/>
              </a:rPr>
              <a:t>Document &amp; slide pack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648456"/>
            <a:ext cx="3429000" cy="822960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" y="3877056"/>
            <a:ext cx="3657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793"/>
                </a:solidFill>
                <a:latin typeface="Aptos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3849624"/>
            <a:ext cx="2514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11F34"/>
                </a:solidFill>
                <a:latin typeface="Aptos"/>
              </a:rPr>
              <a:t>Weekly plan template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16552" y="3648456"/>
            <a:ext cx="3429000" cy="822960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81144" y="3877056"/>
            <a:ext cx="3657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793"/>
                </a:solidFill>
                <a:latin typeface="Aptos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02352" y="3849624"/>
            <a:ext cx="2514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11F34"/>
                </a:solidFill>
                <a:latin typeface="Aptos"/>
              </a:rPr>
              <a:t>Meeting templates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38744" y="3648456"/>
            <a:ext cx="3429000" cy="822960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03336" y="3877056"/>
            <a:ext cx="3657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793"/>
                </a:solidFill>
                <a:latin typeface="Aptos"/>
              </a:rP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24544" y="3849624"/>
            <a:ext cx="2514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11F34"/>
                </a:solidFill>
                <a:latin typeface="Aptos"/>
              </a:rPr>
              <a:t>Verification checklist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4764024"/>
            <a:ext cx="3429000" cy="822960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8952" y="4992624"/>
            <a:ext cx="3657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793"/>
                </a:solidFill>
                <a:latin typeface="Aptos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4965192"/>
            <a:ext cx="2514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11F34"/>
                </a:solidFill>
                <a:latin typeface="Aptos"/>
              </a:rPr>
              <a:t>Data decision guide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16552" y="4764024"/>
            <a:ext cx="3429000" cy="822960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81144" y="4992624"/>
            <a:ext cx="3657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793"/>
                </a:solidFill>
                <a:latin typeface="Aptos"/>
              </a:rPr>
              <a:t>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02352" y="4965192"/>
            <a:ext cx="2514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11F34"/>
                </a:solidFill>
                <a:latin typeface="Aptos"/>
              </a:rPr>
              <a:t>Responsible AI policy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38744" y="4764024"/>
            <a:ext cx="3429000" cy="822960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03336" y="4992624"/>
            <a:ext cx="3657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793"/>
                </a:solidFill>
                <a:latin typeface="Aptos"/>
              </a:rPr>
              <a:t>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24544" y="4965192"/>
            <a:ext cx="2514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11F34"/>
                </a:solidFill>
                <a:latin typeface="Aptos"/>
              </a:rPr>
              <a:t>Fictional practice files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6053328"/>
            <a:ext cx="10607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  <a:latin typeface="Aptos"/>
              </a:rPr>
              <a:t>One fictional company can connect every exercise into a coherent business story.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0352" y="6446520"/>
            <a:ext cx="59436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Practical • Responsible • Human-led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29793"/>
          </a:solidFill>
          <a:ln>
            <a:solidFill>
              <a:srgbClr val="12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6858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129793"/>
                </a:solidFill>
                <a:latin typeface="Aptos"/>
              </a:rP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9728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11F34"/>
                </a:solidFill>
                <a:latin typeface="Aptos"/>
              </a:rPr>
              <a:t>Make the learning stick after the course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2523744" cy="3383280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828800"/>
            <a:ext cx="82296" cy="3383280"/>
          </a:xfrm>
          <a:prstGeom prst="roundRect">
            <a:avLst/>
          </a:prstGeom>
          <a:solidFill>
            <a:srgbClr val="129793"/>
          </a:solidFill>
          <a:ln>
            <a:solidFill>
              <a:srgbClr val="12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057400"/>
            <a:ext cx="457200" cy="457200"/>
          </a:xfrm>
          <a:prstGeom prst="roundRect">
            <a:avLst/>
          </a:prstGeom>
          <a:solidFill>
            <a:srgbClr val="129793"/>
          </a:solidFill>
          <a:ln>
            <a:solidFill>
              <a:srgbClr val="12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57400"/>
            <a:ext cx="4572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029968"/>
            <a:ext cx="151790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11F34"/>
                </a:solidFill>
                <a:latin typeface="Aptos"/>
              </a:rPr>
              <a:t>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487168"/>
            <a:ext cx="2066543" cy="25877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Measure speed, quality and confidence before training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47288" y="1828800"/>
            <a:ext cx="2523744" cy="3383280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47288" y="1828800"/>
            <a:ext cx="82296" cy="3383280"/>
          </a:xfrm>
          <a:prstGeom prst="roundRect">
            <a:avLst/>
          </a:prstGeom>
          <a:solidFill>
            <a:srgbClr val="38BDD0"/>
          </a:solidFill>
          <a:ln>
            <a:solidFill>
              <a:srgbClr val="38B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75887" y="2057400"/>
            <a:ext cx="457200" cy="457200"/>
          </a:xfrm>
          <a:prstGeom prst="roundRect">
            <a:avLst/>
          </a:prstGeom>
          <a:solidFill>
            <a:srgbClr val="38BDD0"/>
          </a:solidFill>
          <a:ln>
            <a:solidFill>
              <a:srgbClr val="38B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75887" y="2057400"/>
            <a:ext cx="4572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0248" y="2029968"/>
            <a:ext cx="151790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11F34"/>
                </a:solidFill>
                <a:latin typeface="Aptos"/>
              </a:rPr>
              <a:t>PRACTISE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2487168"/>
            <a:ext cx="2066543" cy="25877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Use fictional, realistic files and show AI failures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0216" y="1828800"/>
            <a:ext cx="2523744" cy="3383280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00216" y="1828800"/>
            <a:ext cx="82296" cy="3383280"/>
          </a:xfrm>
          <a:prstGeom prst="roundRect">
            <a:avLst/>
          </a:prstGeom>
          <a:solidFill>
            <a:srgbClr val="F2B134"/>
          </a:solidFill>
          <a:ln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28816" y="2057400"/>
            <a:ext cx="457200" cy="457200"/>
          </a:xfrm>
          <a:prstGeom prst="roundRect">
            <a:avLst/>
          </a:prstGeom>
          <a:solidFill>
            <a:srgbClr val="F2B134"/>
          </a:solidFill>
          <a:ln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28816" y="2057400"/>
            <a:ext cx="4572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23176" y="2029968"/>
            <a:ext cx="1517903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11F34"/>
                </a:solidFill>
                <a:latin typeface="Aptos"/>
              </a:rPr>
              <a:t>ADOPT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6248" y="2487168"/>
            <a:ext cx="2066543" cy="25877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Apply one workflow in the participant’s real role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53144" y="1828800"/>
            <a:ext cx="2523744" cy="3383280"/>
          </a:xfrm>
          <a:prstGeom prst="roundRect">
            <a:avLst/>
          </a:prstGeom>
          <a:solidFill>
            <a:srgbClr val="F2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53144" y="1828800"/>
            <a:ext cx="82296" cy="3383280"/>
          </a:xfrm>
          <a:prstGeom prst="roundRect">
            <a:avLst/>
          </a:prstGeom>
          <a:solidFill>
            <a:srgbClr val="EF6A53"/>
          </a:solidFill>
          <a:ln>
            <a:solidFill>
              <a:srgbClr val="EF6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381744" y="2057400"/>
            <a:ext cx="457200" cy="457200"/>
          </a:xfrm>
          <a:prstGeom prst="roundRect">
            <a:avLst/>
          </a:prstGeom>
          <a:solidFill>
            <a:srgbClr val="EF6A53"/>
          </a:solidFill>
          <a:ln>
            <a:solidFill>
              <a:srgbClr val="EF6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81744" y="2057400"/>
            <a:ext cx="4572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76104" y="2029968"/>
            <a:ext cx="1517903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11F34"/>
                </a:solidFill>
                <a:latin typeface="Aptos"/>
              </a:rPr>
              <a:t>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9176" y="2487168"/>
            <a:ext cx="2066543" cy="25877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Return after 30 days to measure impact and risk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650992"/>
            <a:ext cx="108356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11F34"/>
                </a:solidFill>
                <a:latin typeface="Aptos"/>
              </a:rPr>
              <a:t>Keep the workflow lessons stable; update short tool demonstrations as products change.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" y="6446520"/>
            <a:ext cx="59436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Practical • Responsible • Human-led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29793"/>
          </a:solidFill>
          <a:ln>
            <a:solidFill>
              <a:srgbClr val="12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6858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129793"/>
                </a:solidFill>
                <a:latin typeface="Aptos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9728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11F34"/>
                </a:solidFill>
                <a:latin typeface="Aptos"/>
              </a:rPr>
              <a:t>Official product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34440"/>
            <a:ext cx="107899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tos"/>
              </a:rPr>
              <a:t>Feature availability varies by plan, account, region, language and organizational settings.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81328"/>
            <a:ext cx="4937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11F34"/>
                </a:solidFill>
                <a:latin typeface="Aptos"/>
              </a:rPr>
              <a:t>Microsoft Copilot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19656"/>
            <a:ext cx="5029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50" b="0">
                <a:solidFill>
                  <a:srgbClr val="129793"/>
                </a:solidFill>
                <a:latin typeface="Aptos"/>
              </a:rPr>
              <a:t>support.microsoft.com/en-us/office/what-you-can-do-with-microsoft-copilot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560320"/>
            <a:ext cx="4937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11F34"/>
                </a:solidFill>
                <a:latin typeface="Aptos"/>
              </a:rPr>
              <a:t>Copilot in Excel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98648"/>
            <a:ext cx="5029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50" b="0">
                <a:solidFill>
                  <a:srgbClr val="129793"/>
                </a:solidFill>
                <a:latin typeface="Aptos"/>
              </a:rPr>
              <a:t>support.microsoft.com/en-us/excel/copilot/get-started-with-copilot-in-excel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639312"/>
            <a:ext cx="4937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11F34"/>
                </a:solidFill>
                <a:latin typeface="Aptos"/>
              </a:rPr>
              <a:t>Gemini in Gmail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977639"/>
            <a:ext cx="5029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50" b="0">
                <a:solidFill>
                  <a:srgbClr val="129793"/>
                </a:solidFill>
                <a:latin typeface="Aptos"/>
              </a:rPr>
              <a:t>support.google.com/mail/answer/14355636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4718304"/>
            <a:ext cx="4937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11F34"/>
                </a:solidFill>
                <a:latin typeface="Aptos"/>
              </a:rPr>
              <a:t>Gemini in Docs, Sheets &amp; Slides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056632"/>
            <a:ext cx="5029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50" b="0">
                <a:solidFill>
                  <a:srgbClr val="129793"/>
                </a:solidFill>
                <a:latin typeface="Aptos"/>
              </a:rPr>
              <a:t>support.google.com/docs/answer/15123226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1481328"/>
            <a:ext cx="4937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11F34"/>
                </a:solidFill>
                <a:latin typeface="Aptos"/>
              </a:rPr>
              <a:t>Google Workspace AI privacy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1819656"/>
            <a:ext cx="5029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50" b="0">
                <a:solidFill>
                  <a:srgbClr val="129793"/>
                </a:solidFill>
                <a:latin typeface="Aptos"/>
              </a:rPr>
              <a:t>support.google.com/docs/answer/14615114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2560320"/>
            <a:ext cx="4937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11F34"/>
                </a:solidFill>
                <a:latin typeface="Aptos"/>
              </a:rPr>
              <a:t>Yahoo Mail AI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2898648"/>
            <a:ext cx="5029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50" b="0">
                <a:solidFill>
                  <a:srgbClr val="129793"/>
                </a:solidFill>
                <a:latin typeface="Aptos"/>
              </a:rPr>
              <a:t>help.yahoo.com/kb/SLN36900.html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3639312"/>
            <a:ext cx="4937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11F34"/>
                </a:solidFill>
                <a:latin typeface="Aptos"/>
              </a:rPr>
              <a:t>ChatGPT data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3977639"/>
            <a:ext cx="5029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50" b="0">
                <a:solidFill>
                  <a:srgbClr val="129793"/>
                </a:solidFill>
                <a:latin typeface="Aptos"/>
              </a:rPr>
              <a:t>help.openai.com/en/articles/9213685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4718304"/>
            <a:ext cx="4937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11F34"/>
                </a:solidFill>
                <a:latin typeface="Aptos"/>
              </a:rPr>
              <a:t>ChatGPT capabilities overview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5056632"/>
            <a:ext cx="5029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50" b="0">
                <a:solidFill>
                  <a:srgbClr val="129793"/>
                </a:solidFill>
                <a:latin typeface="Aptos"/>
              </a:rPr>
              <a:t>help.openai.com/en/articles/9260256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961888"/>
            <a:ext cx="10607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Aptos"/>
              </a:rPr>
              <a:t>References checked August 2026 • Always confirm current product documentation before recording demonstrations.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6446520"/>
            <a:ext cx="59436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Practical • Responsible • Human-led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F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29793"/>
          </a:solidFill>
          <a:ln>
            <a:solidFill>
              <a:srgbClr val="12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38BDD0"/>
                </a:solidFill>
                <a:latin typeface="Aptos"/>
              </a:rPr>
              <a:t>THE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08760"/>
            <a:ext cx="8595360" cy="2514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tos"/>
              </a:rPr>
              <a:t>Better work.
Better judgment.
More time for people.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828032"/>
            <a:ext cx="4937760" cy="73152"/>
          </a:xfrm>
          <a:prstGeom prst="rect">
            <a:avLst/>
          </a:prstGeom>
          <a:solidFill>
            <a:srgbClr val="129793"/>
          </a:solidFill>
          <a:ln>
            <a:solidFill>
              <a:srgbClr val="12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166360"/>
            <a:ext cx="5486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AI for Everyday Business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696712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AEC6D1"/>
                </a:solidFill>
                <a:latin typeface="Aptos"/>
              </a:rPr>
              <a:t>Practical • Responsible • Human-led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for Everyday Business</dc:title>
  <dc:subject>Practical AI productivity course for non-technical business professionals</dc:subject>
  <dc:creator>AI for Everyday Business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